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DM Sans"/>
      <p:bold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iqvWuVv9F5P2gfEJgSK1RGmSeM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DMSans-bold.fntdata"/><Relationship Id="rId13" Type="http://schemas.openxmlformats.org/officeDocument/2006/relationships/font" Target="fonts/DMSans-boldItalic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25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25.png"/><Relationship Id="rId8" Type="http://schemas.openxmlformats.org/officeDocument/2006/relationships/image" Target="../media/image28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30.png"/><Relationship Id="rId14" Type="http://schemas.openxmlformats.org/officeDocument/2006/relationships/image" Target="../media/image26.png"/><Relationship Id="rId15" Type="http://schemas.openxmlformats.org/officeDocument/2006/relationships/image" Target="../media/image45.png"/><Relationship Id="rId16" Type="http://schemas.openxmlformats.org/officeDocument/2006/relationships/image" Target="../media/image31.png"/><Relationship Id="rId17" Type="http://schemas.openxmlformats.org/officeDocument/2006/relationships/image" Target="../media/image27.png"/><Relationship Id="rId18" Type="http://schemas.openxmlformats.org/officeDocument/2006/relationships/image" Target="../media/image46.png"/><Relationship Id="rId19" Type="http://schemas.openxmlformats.org/officeDocument/2006/relationships/image" Target="../media/image32.png"/><Relationship Id="rId20" Type="http://schemas.openxmlformats.org/officeDocument/2006/relationships/image" Target="../media/image47.png"/><Relationship Id="rId21" Type="http://schemas.openxmlformats.org/officeDocument/2006/relationships/image" Target="../media/image48.png"/><Relationship Id="rId22" Type="http://schemas.openxmlformats.org/officeDocument/2006/relationships/image" Target="../media/image49.png"/><Relationship Id="rId23" Type="http://schemas.openxmlformats.org/officeDocument/2006/relationships/image" Target="../media/image5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5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30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35.png"/><Relationship Id="rId23" Type="http://schemas.openxmlformats.org/officeDocument/2006/relationships/image" Target="../media/image64.png"/><Relationship Id="rId24" Type="http://schemas.openxmlformats.org/officeDocument/2006/relationships/image" Target="../media/image65.png"/><Relationship Id="rId25" Type="http://schemas.openxmlformats.org/officeDocument/2006/relationships/image" Target="../media/image6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Relationship Id="rId9" Type="http://schemas.openxmlformats.org/officeDocument/2006/relationships/image" Target="../media/image4.png"/><Relationship Id="rId10" Type="http://schemas.openxmlformats.org/officeDocument/2006/relationships/image" Target="../media/image17.png"/><Relationship Id="rId11" Type="http://schemas.openxmlformats.org/officeDocument/2006/relationships/image" Target="../media/image25.png"/><Relationship Id="rId12" Type="http://schemas.openxmlformats.org/officeDocument/2006/relationships/image" Target="../media/image67.png"/><Relationship Id="rId13" Type="http://schemas.openxmlformats.org/officeDocument/2006/relationships/image" Target="../media/image68.png"/><Relationship Id="rId14" Type="http://schemas.openxmlformats.org/officeDocument/2006/relationships/image" Target="../media/image69.png"/><Relationship Id="rId15" Type="http://schemas.openxmlformats.org/officeDocument/2006/relationships/image" Target="../media/image70.png"/><Relationship Id="rId16" Type="http://schemas.openxmlformats.org/officeDocument/2006/relationships/image" Target="../media/image71.png"/><Relationship Id="rId17" Type="http://schemas.openxmlformats.org/officeDocument/2006/relationships/image" Target="../media/image72.png"/><Relationship Id="rId18" Type="http://schemas.openxmlformats.org/officeDocument/2006/relationships/image" Target="../media/image73.png"/><Relationship Id="rId19" Type="http://schemas.openxmlformats.org/officeDocument/2006/relationships/image" Target="../media/image74.png"/><Relationship Id="rId20" Type="http://schemas.openxmlformats.org/officeDocument/2006/relationships/image" Target="../media/image58.png"/><Relationship Id="rId21" Type="http://schemas.openxmlformats.org/officeDocument/2006/relationships/image" Target="../media/image75.png"/><Relationship Id="rId22" Type="http://schemas.openxmlformats.org/officeDocument/2006/relationships/image" Target="../media/image76.png"/><Relationship Id="rId23" Type="http://schemas.openxmlformats.org/officeDocument/2006/relationships/image" Target="../media/image77.png"/><Relationship Id="rId24" Type="http://schemas.openxmlformats.org/officeDocument/2006/relationships/image" Target="../media/image31.png"/><Relationship Id="rId25" Type="http://schemas.openxmlformats.org/officeDocument/2006/relationships/image" Target="../media/image78.png"/><Relationship Id="rId26" Type="http://schemas.openxmlformats.org/officeDocument/2006/relationships/image" Target="../media/image79.png"/><Relationship Id="rId27" Type="http://schemas.openxmlformats.org/officeDocument/2006/relationships/image" Target="../media/image80.png"/><Relationship Id="rId28" Type="http://schemas.openxmlformats.org/officeDocument/2006/relationships/image" Target="../media/image81.png"/><Relationship Id="rId29" Type="http://schemas.openxmlformats.org/officeDocument/2006/relationships/image" Target="../media/image82.png"/><Relationship Id="rId30" Type="http://schemas.openxmlformats.org/officeDocument/2006/relationships/image" Target="../media/image83.png"/><Relationship Id="rId31" Type="http://schemas.openxmlformats.org/officeDocument/2006/relationships/image" Target="../media/image53.png"/><Relationship Id="rId32" Type="http://schemas.openxmlformats.org/officeDocument/2006/relationships/image" Target="../media/image84.png"/><Relationship Id="rId33" Type="http://schemas.openxmlformats.org/officeDocument/2006/relationships/image" Target="../media/image52.png"/><Relationship Id="rId34" Type="http://schemas.openxmlformats.org/officeDocument/2006/relationships/image" Target="../media/image85.png"/><Relationship Id="rId35" Type="http://schemas.openxmlformats.org/officeDocument/2006/relationships/image" Target="../media/image50.png"/><Relationship Id="rId36" Type="http://schemas.openxmlformats.org/officeDocument/2006/relationships/image" Target="../media/image86.png"/><Relationship Id="rId37" Type="http://schemas.openxmlformats.org/officeDocument/2006/relationships/image" Target="../media/image43.png"/><Relationship Id="rId38" Type="http://schemas.openxmlformats.org/officeDocument/2006/relationships/image" Target="../media/image87.png"/><Relationship Id="rId39" Type="http://schemas.openxmlformats.org/officeDocument/2006/relationships/image" Target="../media/image8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2.png"/><Relationship Id="rId8" Type="http://schemas.openxmlformats.org/officeDocument/2006/relationships/image" Target="../media/image21.png"/><Relationship Id="rId9" Type="http://schemas.openxmlformats.org/officeDocument/2006/relationships/image" Target="../media/image25.png"/><Relationship Id="rId10" Type="http://schemas.openxmlformats.org/officeDocument/2006/relationships/image" Target="../media/image52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29.png"/><Relationship Id="rId18" Type="http://schemas.openxmlformats.org/officeDocument/2006/relationships/image" Target="../media/image85.png"/><Relationship Id="rId19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370868" y="0"/>
            <a:ext cx="8936182" cy="10287000"/>
          </a:xfrm>
          <a:custGeom>
            <a:rect b="b" l="l" r="r" t="t"/>
            <a:pathLst>
              <a:path extrusionOk="0" h="10287000" w="8936182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9067800" y="0"/>
            <a:ext cx="3489158" cy="10287000"/>
          </a:xfrm>
          <a:custGeom>
            <a:rect b="b" l="l" r="r" t="t"/>
            <a:pathLst>
              <a:path extrusionOk="0" h="10287000" w="3489158">
                <a:moveTo>
                  <a:pt x="0" y="0"/>
                </a:moveTo>
                <a:lnTo>
                  <a:pt x="3489158" y="0"/>
                </a:lnTo>
                <a:lnTo>
                  <a:pt x="3489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864086" y="4913928"/>
            <a:ext cx="4364182" cy="229572"/>
          </a:xfrm>
          <a:custGeom>
            <a:rect b="b" l="l" r="r" t="t"/>
            <a:pathLst>
              <a:path extrusionOk="0" h="229572" w="4364182">
                <a:moveTo>
                  <a:pt x="0" y="0"/>
                </a:moveTo>
                <a:lnTo>
                  <a:pt x="4364182" y="0"/>
                </a:lnTo>
                <a:lnTo>
                  <a:pt x="436418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2806744" y="7366890"/>
            <a:ext cx="357500" cy="1551249"/>
          </a:xfrm>
          <a:custGeom>
            <a:rect b="b" l="l" r="r" t="t"/>
            <a:pathLst>
              <a:path extrusionOk="0" h="1551249" w="357500">
                <a:moveTo>
                  <a:pt x="0" y="0"/>
                </a:moveTo>
                <a:lnTo>
                  <a:pt x="357500" y="0"/>
                </a:lnTo>
                <a:lnTo>
                  <a:pt x="357500" y="1551249"/>
                </a:lnTo>
                <a:lnTo>
                  <a:pt x="0" y="1551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12135765" y="2933688"/>
            <a:ext cx="4824682" cy="2355802"/>
          </a:xfrm>
          <a:custGeom>
            <a:rect b="b" l="l" r="r" t="t"/>
            <a:pathLst>
              <a:path extrusionOk="0" h="2355802" w="4824682">
                <a:moveTo>
                  <a:pt x="0" y="0"/>
                </a:moveTo>
                <a:lnTo>
                  <a:pt x="4824682" y="0"/>
                </a:lnTo>
                <a:lnTo>
                  <a:pt x="4824682" y="2355802"/>
                </a:lnTo>
                <a:lnTo>
                  <a:pt x="0" y="2355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 txBox="1"/>
          <p:nvPr/>
        </p:nvSpPr>
        <p:spPr>
          <a:xfrm>
            <a:off x="950976" y="977218"/>
            <a:ext cx="6912864" cy="2823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49" u="none" cap="none" strike="noStrike">
                <a:solidFill>
                  <a:srgbClr val="272727"/>
                </a:solidFill>
                <a:latin typeface="DM Sans"/>
                <a:ea typeface="DM Sans"/>
                <a:cs typeface="DM Sans"/>
                <a:sym typeface="DM Sans"/>
              </a:rPr>
              <a:t>VeriFi AI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50976" y="5347238"/>
            <a:ext cx="7223760" cy="482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2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Stopping deepfake-driven payment fraud </a:t>
            </a:r>
            <a:r>
              <a:rPr b="1" i="0" lang="en-US" sz="3232" u="none" cap="none" strike="noStrike">
                <a:solidFill>
                  <a:srgbClr val="3C4043"/>
                </a:solidFill>
                <a:latin typeface="DM Sans"/>
                <a:ea typeface="DM Sans"/>
                <a:cs typeface="DM Sans"/>
                <a:sym typeface="DM Sans"/>
              </a:rPr>
              <a:t>before the money moves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864086" y="7266255"/>
            <a:ext cx="1865376" cy="158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7" u="none" cap="none" strike="noStrike">
                <a:solidFill>
                  <a:srgbClr val="4F85ED"/>
                </a:solidFill>
                <a:latin typeface="DM Sans"/>
                <a:ea typeface="DM Sans"/>
                <a:cs typeface="DM Sans"/>
                <a:sym typeface="DM Sans"/>
              </a:rPr>
              <a:t>TEAM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7" u="none" cap="none" strike="noStrike">
                <a:solidFill>
                  <a:srgbClr val="4F85ED"/>
                </a:solidFill>
                <a:latin typeface="DM Sans"/>
                <a:ea typeface="DM Sans"/>
                <a:cs typeface="DM Sans"/>
                <a:sym typeface="DM Sans"/>
              </a:rPr>
              <a:t>TRACK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7" u="none" cap="none" strike="noStrike">
                <a:solidFill>
                  <a:srgbClr val="4F85ED"/>
                </a:solidFill>
                <a:latin typeface="DM Sans"/>
                <a:ea typeface="DM Sans"/>
                <a:cs typeface="DM Sans"/>
                <a:sym typeface="DM Sans"/>
              </a:rPr>
              <a:t>MEMBERS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240444" y="7189974"/>
            <a:ext cx="5669280" cy="2442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VeriFi AI</a:t>
            </a:r>
            <a:endParaRPr/>
          </a:p>
          <a:p>
            <a:pPr indent="0" lvl="0" marL="0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FinTech &amp; Cyber Security</a:t>
            </a:r>
            <a:endParaRPr/>
          </a:p>
          <a:p>
            <a:pPr indent="-236832" lvl="1" marL="473663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Clr>
                <a:srgbClr val="8A8B8D"/>
              </a:buClr>
              <a:buSzPts val="2193"/>
              <a:buFont typeface="Arial"/>
              <a:buChar char="•"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Priyanshi Chittora · Kashish Yadav</a:t>
            </a:r>
            <a:endParaRPr/>
          </a:p>
          <a:p>
            <a:pPr indent="-236832" lvl="1" marL="473663" marR="0" rtl="0" algn="l">
              <a:lnSpc>
                <a:spcPct val="180072"/>
              </a:lnSpc>
              <a:spcBef>
                <a:spcPts val="0"/>
              </a:spcBef>
              <a:spcAft>
                <a:spcPts val="0"/>
              </a:spcAft>
              <a:buClr>
                <a:srgbClr val="8A8B8D"/>
              </a:buClr>
              <a:buSzPts val="2193"/>
              <a:buFont typeface="Arial"/>
              <a:buChar char="•"/>
            </a:pPr>
            <a:r>
              <a:rPr b="1" i="0" lang="en-US" sz="2193" u="none" cap="none" strike="noStrike">
                <a:solidFill>
                  <a:srgbClr val="8A8B8D"/>
                </a:solidFill>
                <a:latin typeface="DM Sans"/>
                <a:ea typeface="DM Sans"/>
                <a:cs typeface="DM Sans"/>
                <a:sym typeface="DM Sans"/>
              </a:rPr>
              <a:t>Hardik Tailor · Jayant Kumawat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1057446" y="5755366"/>
            <a:ext cx="6981321" cy="1567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5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Aravalli Build Challenge</a:t>
            </a:r>
            <a:endParaRPr/>
          </a:p>
        </p:txBody>
      </p:sp>
      <p:sp>
        <p:nvSpPr>
          <p:cNvPr id="94" name="Built-on pill"/>
          <p:cNvSpPr/>
          <p:nvPr/>
        </p:nvSpPr>
        <p:spPr>
          <a:xfrm>
            <a:off x="950976" y="2724912"/>
            <a:ext cx="5900928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5" name="Picture 94" descr="SiGooglecloud_4285F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" y="2843784"/>
            <a:ext cx="274320" cy="274320"/>
          </a:xfrm>
          <a:prstGeom prst="rect">
            <a:avLst/>
          </a:prstGeom>
        </p:spPr>
      </p:pic>
      <p:pic>
        <p:nvPicPr>
          <p:cNvPr id="96" name="Picture 95" descr="SiGooglegemini_EA433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9616" y="2843784"/>
            <a:ext cx="274320" cy="274320"/>
          </a:xfrm>
          <a:prstGeom prst="rect">
            <a:avLst/>
          </a:prstGeom>
        </p:spPr>
      </p:pic>
      <p:pic>
        <p:nvPicPr>
          <p:cNvPr id="97" name="Picture 96" descr="SiFirebase_FBBC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2843784"/>
            <a:ext cx="274320" cy="274320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2249424" y="2724912"/>
            <a:ext cx="59009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02124"/>
                </a:solidFill>
                <a:latin typeface="DM Sans"/>
              </a:rPr>
              <a:t>Built on Google Cloud · Gemini · Firebase</a:t>
            </a:r>
          </a:p>
        </p:txBody>
      </p:sp>
      <p:sp>
        <p:nvSpPr>
          <p:cNvPr id="99" name="Badge MdAccountTree"/>
          <p:cNvSpPr/>
          <p:nvPr/>
        </p:nvSpPr>
        <p:spPr>
          <a:xfrm>
            <a:off x="950976" y="3639312"/>
            <a:ext cx="566928" cy="56692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0" name="Picture 99" descr="MdAccountTree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5700" y="3764036"/>
            <a:ext cx="317479" cy="317479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1627632" y="3639312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A73E8"/>
                </a:solidFill>
                <a:latin typeface="DM Sans"/>
              </a:rPr>
              <a:t>Trace</a:t>
            </a:r>
          </a:p>
        </p:txBody>
      </p:sp>
      <p:pic>
        <p:nvPicPr>
          <p:cNvPr id="102" name="Picture 101" descr="MdChevronRight_3C404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7440" y="3767328"/>
            <a:ext cx="310896" cy="310896"/>
          </a:xfrm>
          <a:prstGeom prst="rect">
            <a:avLst/>
          </a:prstGeom>
        </p:spPr>
      </p:pic>
      <p:sp>
        <p:nvSpPr>
          <p:cNvPr id="103" name="Badge MdRule"/>
          <p:cNvSpPr/>
          <p:nvPr/>
        </p:nvSpPr>
        <p:spPr>
          <a:xfrm>
            <a:off x="2798064" y="3639312"/>
            <a:ext cx="566928" cy="56692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MdRule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22788" y="3764036"/>
            <a:ext cx="317479" cy="317479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3474720" y="3639312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C5221F"/>
                </a:solidFill>
                <a:latin typeface="DM Sans"/>
              </a:rPr>
              <a:t>Decide</a:t>
            </a:r>
          </a:p>
        </p:txBody>
      </p:sp>
      <p:pic>
        <p:nvPicPr>
          <p:cNvPr id="106" name="Picture 105" descr="MdChevronRight_3C404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2544" y="3767328"/>
            <a:ext cx="310896" cy="310896"/>
          </a:xfrm>
          <a:prstGeom prst="rect">
            <a:avLst/>
          </a:prstGeom>
        </p:spPr>
      </p:pic>
      <p:sp>
        <p:nvSpPr>
          <p:cNvPr id="107" name="Badge MdFingerprint"/>
          <p:cNvSpPr/>
          <p:nvPr/>
        </p:nvSpPr>
        <p:spPr>
          <a:xfrm>
            <a:off x="4773168" y="3639312"/>
            <a:ext cx="566928" cy="566928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MdFingerprint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97892" y="3764036"/>
            <a:ext cx="317479" cy="317479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5449824" y="3639312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06000"/>
                </a:solidFill>
                <a:latin typeface="DM Sans"/>
              </a:rPr>
              <a:t>Confirm</a:t>
            </a:r>
          </a:p>
        </p:txBody>
      </p:sp>
      <p:pic>
        <p:nvPicPr>
          <p:cNvPr id="110" name="Picture 109" descr="MdChevronRight_3C404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5664" y="3767328"/>
            <a:ext cx="310896" cy="310896"/>
          </a:xfrm>
          <a:prstGeom prst="rect">
            <a:avLst/>
          </a:prstGeom>
        </p:spPr>
      </p:pic>
      <p:sp>
        <p:nvSpPr>
          <p:cNvPr id="111" name="Badge MdGavel"/>
          <p:cNvSpPr/>
          <p:nvPr/>
        </p:nvSpPr>
        <p:spPr>
          <a:xfrm>
            <a:off x="6876288" y="3639312"/>
            <a:ext cx="566928" cy="566928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MdGavel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01012" y="3764036"/>
            <a:ext cx="317479" cy="317479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552944" y="3639312"/>
            <a:ext cx="1371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88038"/>
                </a:solidFill>
                <a:latin typeface="DM Sans"/>
              </a:rPr>
              <a:t>Respond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p2"/>
          <p:cNvSpPr txBox="1"/>
          <p:nvPr/>
        </p:nvSpPr>
        <p:spPr>
          <a:xfrm>
            <a:off x="987552" y="1221600"/>
            <a:ext cx="10442448" cy="10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 txBox="1"/>
          <p:nvPr/>
        </p:nvSpPr>
        <p:spPr>
          <a:xfrm>
            <a:off x="987550" y="9552724"/>
            <a:ext cx="3147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4517136" y="9553026"/>
            <a:ext cx="1335024" cy="169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3" u="none" cap="none" strike="noStrike">
                <a:solidFill>
                  <a:srgbClr val="8F8F8F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  <p:sp>
        <p:nvSpPr>
          <p:cNvPr id="109" name="Google badge"/>
          <p:cNvSpPr/>
          <p:nvPr/>
        </p:nvSpPr>
        <p:spPr>
          <a:xfrm>
            <a:off x="14700503" y="457200"/>
            <a:ext cx="2727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SiGooglecloud_4285F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83383" y="539496"/>
            <a:ext cx="292608" cy="29260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15285719" y="457200"/>
            <a:ext cx="2142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124"/>
                </a:solidFill>
                <a:latin typeface="DM Sans"/>
              </a:rPr>
              <a:t>Built on Google Cloud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87552" y="2395728"/>
            <a:ext cx="163677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202124"/>
                </a:solidFill>
                <a:latin typeface="DM Sans"/>
              </a:rPr>
              <a:t>A deepfaked CFO can talk honest staff into wiring crores, </a:t>
            </a:r>
            <a:r>
              <a:rPr sz="2200" b="1" i="0">
                <a:solidFill>
                  <a:srgbClr val="C5221F"/>
                </a:solidFill>
                <a:latin typeface="DM Sans"/>
              </a:rPr>
              <a:t>and nothing connects the call to the payment.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7552" y="3127248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50">
                <a:solidFill>
                  <a:srgbClr val="1A73E8"/>
                </a:solidFill>
                <a:latin typeface="DM Sans"/>
              </a:rPr>
              <a:t>HOW THE FRAUD UNFOLDS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434840" y="31455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0868B"/>
                </a:solidFill>
                <a:latin typeface="DM Sans"/>
              </a:rPr>
              <a:t>synthetic scenario</a:t>
            </a:r>
          </a:p>
        </p:txBody>
      </p:sp>
      <p:sp>
        <p:nvSpPr>
          <p:cNvPr id="115" name="Step 1"/>
          <p:cNvSpPr/>
          <p:nvPr/>
        </p:nvSpPr>
        <p:spPr>
          <a:xfrm>
            <a:off x="859536" y="3566160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Badge MdEmail"/>
          <p:cNvSpPr/>
          <p:nvPr/>
        </p:nvSpPr>
        <p:spPr>
          <a:xfrm>
            <a:off x="1088136" y="3794760"/>
            <a:ext cx="658368" cy="65836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MdEmail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2976" y="3939600"/>
            <a:ext cx="368686" cy="368686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865376" y="3794760"/>
            <a:ext cx="144475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80">
                <a:solidFill>
                  <a:srgbClr val="1A73E8"/>
                </a:solidFill>
                <a:latin typeface="DM Sans"/>
              </a:rPr>
              <a:t>09:12 · GMAIL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88136" y="4617720"/>
            <a:ext cx="21305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124"/>
                </a:solidFill>
                <a:latin typeface="DM Sans"/>
              </a:rPr>
              <a:t>Lookalike email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88136" y="5029200"/>
            <a:ext cx="213055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5F6368"/>
                </a:solidFill>
                <a:latin typeface="DM Sans"/>
              </a:rPr>
              <a:t>From kestrelinfra-group.co, a lookalike domain, so </a:t>
            </a:r>
            <a:r>
              <a:rPr sz="1350" b="1" i="0">
                <a:solidFill>
                  <a:srgbClr val="202124"/>
                </a:solidFill>
                <a:latin typeface="DM Sans"/>
              </a:rPr>
              <a:t>SPF, DKIM, DMARC all pass.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3447287" y="4123944"/>
            <a:ext cx="228600" cy="0"/>
          </a:xfrm>
          <a:prstGeom prst="line">
            <a:avLst/>
          </a:prstGeom>
          <a:ln w="25400">
            <a:solidFill>
              <a:srgbClr val="8086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Step 2"/>
          <p:cNvSpPr/>
          <p:nvPr/>
        </p:nvSpPr>
        <p:spPr>
          <a:xfrm>
            <a:off x="3721608" y="3566160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Badge MdVideocam"/>
          <p:cNvSpPr/>
          <p:nvPr/>
        </p:nvSpPr>
        <p:spPr>
          <a:xfrm>
            <a:off x="3950208" y="3794760"/>
            <a:ext cx="658368" cy="65836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Picture 123" descr="MdVideocam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5048" y="3939600"/>
            <a:ext cx="368686" cy="368686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4727448" y="3794760"/>
            <a:ext cx="144475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80">
                <a:solidFill>
                  <a:srgbClr val="C5221F"/>
                </a:solidFill>
                <a:latin typeface="DM Sans"/>
              </a:rPr>
              <a:t>11:30 · VIDEO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950208" y="4617720"/>
            <a:ext cx="21305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124"/>
                </a:solidFill>
                <a:latin typeface="DM Sans"/>
              </a:rPr>
              <a:t>Deepfake “CFO”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50208" y="5029200"/>
            <a:ext cx="213055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202124"/>
                </a:solidFill>
                <a:latin typeface="DM Sans"/>
              </a:rPr>
              <a:t>Face and voice cloned:</a:t>
            </a:r>
            <a:r>
              <a:rPr sz="1350" b="0" i="0">
                <a:solidFill>
                  <a:srgbClr val="5F6368"/>
                </a:solidFill>
                <a:latin typeface="DM Sans"/>
              </a:rPr>
              <a:t> “Confidential deal. Pay today, tell no one.”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6309359" y="4123944"/>
            <a:ext cx="228600" cy="0"/>
          </a:xfrm>
          <a:prstGeom prst="line">
            <a:avLst/>
          </a:prstGeom>
          <a:ln w="25400">
            <a:solidFill>
              <a:srgbClr val="8086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Step 3"/>
          <p:cNvSpPr/>
          <p:nvPr/>
        </p:nvSpPr>
        <p:spPr>
          <a:xfrm>
            <a:off x="6583679" y="3566160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Badge MdAccountBalance"/>
          <p:cNvSpPr/>
          <p:nvPr/>
        </p:nvSpPr>
        <p:spPr>
          <a:xfrm>
            <a:off x="6812279" y="3794760"/>
            <a:ext cx="658368" cy="658368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MdAccountBalance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7120" y="3939600"/>
            <a:ext cx="368686" cy="368686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7589519" y="3794760"/>
            <a:ext cx="144475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80">
                <a:solidFill>
                  <a:srgbClr val="B06000"/>
                </a:solidFill>
                <a:latin typeface="DM Sans"/>
              </a:rPr>
              <a:t>11:52 · ERP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12279" y="4617720"/>
            <a:ext cx="21305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124"/>
                </a:solidFill>
                <a:latin typeface="DM Sans"/>
              </a:rPr>
              <a:t>Brand-new account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12279" y="5029200"/>
            <a:ext cx="213055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202124"/>
                </a:solidFill>
                <a:latin typeface="DM Sans"/>
              </a:rPr>
              <a:t>₹5 Cr</a:t>
            </a:r>
            <a:r>
              <a:rPr sz="1350" b="0" i="0">
                <a:solidFill>
                  <a:srgbClr val="5F6368"/>
                </a:solidFill>
                <a:latin typeface="DM Sans"/>
              </a:rPr>
              <a:t> to “Meridian Advisory LLP”, an account </a:t>
            </a:r>
            <a:r>
              <a:rPr sz="1350" b="1" i="0">
                <a:solidFill>
                  <a:srgbClr val="202124"/>
                </a:solidFill>
                <a:latin typeface="DM Sans"/>
              </a:rPr>
              <a:t>never paid before.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9171432" y="4123944"/>
            <a:ext cx="228599" cy="0"/>
          </a:xfrm>
          <a:prstGeom prst="line">
            <a:avLst/>
          </a:prstGeom>
          <a:ln w="25400">
            <a:solidFill>
              <a:srgbClr val="8086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Step 4"/>
          <p:cNvSpPr/>
          <p:nvPr/>
        </p:nvSpPr>
        <p:spPr>
          <a:xfrm>
            <a:off x="9445752" y="3566160"/>
            <a:ext cx="2542032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Badge MdCurrencyRupee"/>
          <p:cNvSpPr/>
          <p:nvPr/>
        </p:nvSpPr>
        <p:spPr>
          <a:xfrm>
            <a:off x="9674352" y="3794760"/>
            <a:ext cx="658368" cy="658368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MdCurrencyRupee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19192" y="3939600"/>
            <a:ext cx="368686" cy="368686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10451592" y="3794760"/>
            <a:ext cx="144475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80">
                <a:solidFill>
                  <a:srgbClr val="188038"/>
                </a:solidFill>
                <a:latin typeface="DM Sans"/>
              </a:rPr>
              <a:t>12:05 · BANK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674352" y="4617720"/>
            <a:ext cx="213055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124"/>
                </a:solidFill>
                <a:latin typeface="DM Sans"/>
              </a:rPr>
              <a:t>Money leaves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674352" y="5029200"/>
            <a:ext cx="213055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5F6368"/>
                </a:solidFill>
                <a:latin typeface="DM Sans"/>
              </a:rPr>
              <a:t>The convinced AP maker releases it. </a:t>
            </a:r>
            <a:r>
              <a:rPr sz="1350" b="1" i="0">
                <a:solidFill>
                  <a:srgbClr val="202124"/>
                </a:solidFill>
                <a:latin typeface="DM Sans"/>
              </a:rPr>
              <a:t>Recovery needs reporting within hours.</a:t>
            </a:r>
          </a:p>
        </p:txBody>
      </p:sp>
      <p:sp>
        <p:nvSpPr>
          <p:cNvPr id="142" name="Stat card"/>
          <p:cNvSpPr/>
          <p:nvPr/>
        </p:nvSpPr>
        <p:spPr>
          <a:xfrm>
            <a:off x="12271248" y="3127248"/>
            <a:ext cx="5157216" cy="3090672"/>
          </a:xfrm>
          <a:prstGeom prst="roundRect">
            <a:avLst>
              <a:gd name="adj" fmla="val 8000"/>
            </a:avLst>
          </a:prstGeom>
          <a:solidFill>
            <a:srgbClr val="202124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Badge MdWarningAmber"/>
          <p:cNvSpPr/>
          <p:nvPr/>
        </p:nvSpPr>
        <p:spPr>
          <a:xfrm>
            <a:off x="12591288" y="3401568"/>
            <a:ext cx="566928" cy="56692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MdWarningAmber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16012" y="3526292"/>
            <a:ext cx="317479" cy="317479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3295376" y="3401568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20">
                <a:solidFill>
                  <a:srgbClr val="BDC1C6"/>
                </a:solidFill>
                <a:latin typeface="DM Sans"/>
              </a:rPr>
              <a:t>IN THE PUBLIC RECORD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591288" y="4069080"/>
            <a:ext cx="4572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 i="0">
                <a:solidFill>
                  <a:srgbClr val="FFFFFF"/>
                </a:solidFill>
                <a:latin typeface="DM Sans"/>
              </a:rPr>
              <a:t>US$25.6M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591288" y="4873752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DADCE0"/>
                </a:solidFill>
                <a:latin typeface="DM Sans"/>
              </a:rPr>
              <a:t>lost by Arup (Hong Kong, Jan 2024) after </a:t>
            </a:r>
            <a:r>
              <a:rPr sz="1350" b="1" i="0">
                <a:solidFill>
                  <a:srgbClr val="FFFFFF"/>
                </a:solidFill>
                <a:latin typeface="DM Sans"/>
              </a:rPr>
              <a:t>one video call with a deepfaked CFO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591288" y="546811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4285F4"/>
                </a:solidFill>
                <a:latin typeface="DM Sans"/>
              </a:rPr>
              <a:t>15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591288" y="5852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DC1C6"/>
                </a:solidFill>
                <a:latin typeface="DM Sans"/>
              </a:rPr>
              <a:t>transfers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4145767" y="546811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BBC04"/>
                </a:solidFill>
                <a:latin typeface="DM Sans"/>
              </a:rPr>
              <a:t>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4145767" y="5852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DC1C6"/>
                </a:solidFill>
                <a:latin typeface="DM Sans"/>
              </a:rPr>
              <a:t>accounts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5700247" y="5468112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34A853"/>
                </a:solidFill>
                <a:latin typeface="DM Sans"/>
              </a:rPr>
              <a:t>~1 wk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700247" y="5852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DC1C6"/>
                </a:solidFill>
                <a:latin typeface="DM Sans"/>
              </a:rPr>
              <a:t>to notice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271248" y="6309360"/>
            <a:ext cx="51572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0868B"/>
                </a:solidFill>
                <a:latin typeface="DM Sans"/>
              </a:rPr>
              <a:t>Source: South China Morning Post, May 2024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87552" y="667512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50">
                <a:solidFill>
                  <a:srgbClr val="5F6368"/>
                </a:solidFill>
                <a:latin typeface="DM Sans"/>
              </a:rPr>
              <a:t>TARGET USERS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400800" y="6693408"/>
            <a:ext cx="110276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5F6368"/>
                </a:solidFill>
                <a:latin typeface="DM Sans"/>
              </a:rPr>
              <a:t>Buyer: </a:t>
            </a:r>
            <a:r>
              <a:rPr sz="1300" b="0" i="0">
                <a:solidFill>
                  <a:srgbClr val="5F6368"/>
                </a:solidFill>
                <a:latin typeface="DM Sans"/>
              </a:rPr>
              <a:t>Indian mid-to-large enterprises with central treasury / AP</a:t>
            </a:r>
          </a:p>
        </p:txBody>
      </p:sp>
      <p:sp>
        <p:nvSpPr>
          <p:cNvPr id="157" name="Persona AP / Treasury maker"/>
          <p:cNvSpPr/>
          <p:nvPr/>
        </p:nvSpPr>
        <p:spPr>
          <a:xfrm>
            <a:off x="859536" y="7086600"/>
            <a:ext cx="534009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Badge MdPerson"/>
          <p:cNvSpPr/>
          <p:nvPr/>
        </p:nvSpPr>
        <p:spPr>
          <a:xfrm>
            <a:off x="1133856" y="7507224"/>
            <a:ext cx="731520" cy="73152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MdPerson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94790" y="7668158"/>
            <a:ext cx="409651" cy="409651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2093976" y="7315200"/>
            <a:ext cx="3877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124"/>
                </a:solidFill>
                <a:latin typeface="DM Sans"/>
              </a:rPr>
              <a:t>AP / Treasury maker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093976" y="7726679"/>
            <a:ext cx="38770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5F6368"/>
                </a:solidFill>
                <a:latin typeface="DM Sans"/>
              </a:rPr>
              <a:t>The deceived user. Releases payments and needs </a:t>
            </a:r>
            <a:r>
              <a:rPr sz="1450" b="1" i="0">
                <a:solidFill>
                  <a:srgbClr val="202124"/>
                </a:solidFill>
                <a:latin typeface="DM Sans"/>
              </a:rPr>
              <a:t>zero friction on normal days.</a:t>
            </a:r>
          </a:p>
        </p:txBody>
      </p:sp>
      <p:sp>
        <p:nvSpPr>
          <p:cNvPr id="162" name="Persona CFO / Authority"/>
          <p:cNvSpPr/>
          <p:nvPr/>
        </p:nvSpPr>
        <p:spPr>
          <a:xfrm>
            <a:off x="6473952" y="7086600"/>
            <a:ext cx="534009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Badge MdVerifiedUser"/>
          <p:cNvSpPr/>
          <p:nvPr/>
        </p:nvSpPr>
        <p:spPr>
          <a:xfrm>
            <a:off x="6748272" y="7507224"/>
            <a:ext cx="731520" cy="73152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MdVerifiedUser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09206" y="7668158"/>
            <a:ext cx="409651" cy="409651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708392" y="7315200"/>
            <a:ext cx="3877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124"/>
                </a:solidFill>
                <a:latin typeface="DM Sans"/>
              </a:rPr>
              <a:t>CFO / Authority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708392" y="7726679"/>
            <a:ext cx="38770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5F6368"/>
                </a:solidFill>
                <a:latin typeface="DM Sans"/>
              </a:rPr>
              <a:t>The impersonated person. </a:t>
            </a:r>
            <a:r>
              <a:rPr sz="1450" b="1" i="0">
                <a:solidFill>
                  <a:srgbClr val="202124"/>
                </a:solidFill>
                <a:latin typeface="DM Sans"/>
              </a:rPr>
              <a:t>Confirms or denies in seconds,</a:t>
            </a:r>
            <a:r>
              <a:rPr sz="1450" b="0" i="0">
                <a:solidFill>
                  <a:srgbClr val="5F6368"/>
                </a:solidFill>
                <a:latin typeface="DM Sans"/>
              </a:rPr>
              <a:t> from anywhere.</a:t>
            </a:r>
          </a:p>
        </p:txBody>
      </p:sp>
      <p:sp>
        <p:nvSpPr>
          <p:cNvPr id="167" name="Persona Fraud analyst"/>
          <p:cNvSpPr/>
          <p:nvPr/>
        </p:nvSpPr>
        <p:spPr>
          <a:xfrm>
            <a:off x="12088367" y="7086600"/>
            <a:ext cx="5340096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Badge MdManageSearch"/>
          <p:cNvSpPr/>
          <p:nvPr/>
        </p:nvSpPr>
        <p:spPr>
          <a:xfrm>
            <a:off x="12362688" y="7507224"/>
            <a:ext cx="731520" cy="73152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MdManageSearch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23622" y="7668158"/>
            <a:ext cx="409651" cy="409651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3322807" y="7315200"/>
            <a:ext cx="3877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02124"/>
                </a:solidFill>
                <a:latin typeface="DM Sans"/>
              </a:rPr>
              <a:t>Fraud analyst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3322807" y="7726679"/>
            <a:ext cx="387705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5F6368"/>
                </a:solidFill>
                <a:latin typeface="DM Sans"/>
              </a:rPr>
              <a:t>Investigates holds and must </a:t>
            </a:r>
            <a:r>
              <a:rPr sz="1450" b="1" i="0">
                <a:solidFill>
                  <a:srgbClr val="202124"/>
                </a:solidFill>
                <a:latin typeface="DM Sans"/>
              </a:rPr>
              <a:t>report to 1930 within the golden hour.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3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 txBox="1"/>
          <p:nvPr/>
        </p:nvSpPr>
        <p:spPr>
          <a:xfrm>
            <a:off x="987552" y="1355696"/>
            <a:ext cx="10442448" cy="1007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SOLUTION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3"/>
          <p:cNvSpPr txBox="1"/>
          <p:nvPr/>
        </p:nvSpPr>
        <p:spPr>
          <a:xfrm>
            <a:off x="987550" y="9552728"/>
            <a:ext cx="3147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4517136" y="9553026"/>
            <a:ext cx="1335024" cy="169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3" u="none" cap="none" strike="noStrike">
                <a:solidFill>
                  <a:srgbClr val="8F8F8F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  <p:sp>
        <p:nvSpPr>
          <p:cNvPr id="124" name="Google badge"/>
          <p:cNvSpPr/>
          <p:nvPr/>
        </p:nvSpPr>
        <p:spPr>
          <a:xfrm>
            <a:off x="14700503" y="457200"/>
            <a:ext cx="2727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5" name="Picture 124" descr="SiGooglecloud_4285F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83383" y="539496"/>
            <a:ext cx="292608" cy="292608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15285719" y="457200"/>
            <a:ext cx="2142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124"/>
                </a:solidFill>
                <a:latin typeface="DM Sans"/>
              </a:rPr>
              <a:t>Built on Google Cloud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87552" y="2578608"/>
            <a:ext cx="163677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>
                <a:solidFill>
                  <a:srgbClr val="202124"/>
                </a:solidFill>
                <a:latin typeface="DM Sans"/>
              </a:rPr>
              <a:t>VeriFi AI holds a risky payment until </a:t>
            </a:r>
            <a:r>
              <a:rPr sz="2100" b="1" i="0">
                <a:solidFill>
                  <a:srgbClr val="1A73E8"/>
                </a:solidFill>
                <a:latin typeface="DM Sans"/>
              </a:rPr>
              <a:t>the person the instruction claims to come from</a:t>
            </a:r>
            <a:r>
              <a:rPr sz="2100" b="0" i="0">
                <a:solidFill>
                  <a:srgbClr val="202124"/>
                </a:solidFill>
                <a:latin typeface="DM Sans"/>
              </a:rPr>
              <a:t> confirms it on their own phone, with a </a:t>
            </a:r>
            <a:r>
              <a:rPr sz="2100" b="1" i="0">
                <a:solidFill>
                  <a:srgbClr val="202124"/>
                </a:solidFill>
                <a:latin typeface="DM Sans"/>
              </a:rPr>
              <a:t>passkey bound to that exact amount and account.</a:t>
            </a:r>
          </a:p>
        </p:txBody>
      </p:sp>
      <p:sp>
        <p:nvSpPr>
          <p:cNvPr id="128" name="Pillar Trace"/>
          <p:cNvSpPr/>
          <p:nvPr/>
        </p:nvSpPr>
        <p:spPr>
          <a:xfrm>
            <a:off x="859536" y="3703320"/>
            <a:ext cx="3895344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Badge MdAccountTree"/>
          <p:cNvSpPr/>
          <p:nvPr/>
        </p:nvSpPr>
        <p:spPr>
          <a:xfrm>
            <a:off x="1179576" y="4023359"/>
            <a:ext cx="914400" cy="91440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0" name="Picture 129" descr="MdAccountTre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0744" y="4224527"/>
            <a:ext cx="512064" cy="512064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3337559" y="3977639"/>
            <a:ext cx="1143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E8EAED"/>
                </a:solidFill>
                <a:latin typeface="DM Sans"/>
              </a:rPr>
              <a:t>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79576" y="5120640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73E8"/>
                </a:solidFill>
                <a:latin typeface="DM Sans"/>
              </a:rPr>
              <a:t>Trace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79576" y="5669279"/>
            <a:ext cx="33467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02124"/>
                </a:solidFill>
                <a:latin typeface="DM Sans"/>
              </a:rPr>
              <a:t>Gmail and Meet signals become a </a:t>
            </a:r>
            <a:r>
              <a:rPr sz="1450" b="1" i="0">
                <a:solidFill>
                  <a:srgbClr val="202124"/>
                </a:solidFill>
                <a:latin typeface="DM Sans"/>
              </a:rPr>
              <a:t>graph of where every bank account came from.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79576" y="6812279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80868B"/>
                </a:solidFill>
                <a:latin typeface="DM Sans"/>
              </a:rPr>
              <a:t>POWERED BY</a:t>
            </a:r>
          </a:p>
        </p:txBody>
      </p:sp>
      <p:sp>
        <p:nvSpPr>
          <p:cNvPr id="135" name="Chip Gmail API"/>
          <p:cNvSpPr/>
          <p:nvPr/>
        </p:nvSpPr>
        <p:spPr>
          <a:xfrm>
            <a:off x="1179576" y="7104888"/>
            <a:ext cx="1444752" cy="36576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6" name="Picture 135" descr="SiGmail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4168" y="7178040"/>
            <a:ext cx="219456" cy="219456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1655064" y="710488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Gmail API</a:t>
            </a:r>
          </a:p>
        </p:txBody>
      </p:sp>
      <p:sp>
        <p:nvSpPr>
          <p:cNvPr id="138" name="Chip Meet API"/>
          <p:cNvSpPr/>
          <p:nvPr/>
        </p:nvSpPr>
        <p:spPr>
          <a:xfrm>
            <a:off x="2715768" y="7104888"/>
            <a:ext cx="1359408" cy="36576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SiGooglemeet_4285F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0360" y="7178040"/>
            <a:ext cx="219456" cy="219456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3191256" y="7104888"/>
            <a:ext cx="88391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Meet API</a:t>
            </a:r>
          </a:p>
        </p:txBody>
      </p:sp>
      <p:sp>
        <p:nvSpPr>
          <p:cNvPr id="141" name="Chip Spanner Graph"/>
          <p:cNvSpPr/>
          <p:nvPr/>
        </p:nvSpPr>
        <p:spPr>
          <a:xfrm>
            <a:off x="1179576" y="7580375"/>
            <a:ext cx="1786128" cy="36576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SiGooglecloudspanner_4285F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4168" y="7653527"/>
            <a:ext cx="219456" cy="219456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1655064" y="7580375"/>
            <a:ext cx="131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Spanner Graph</a:t>
            </a:r>
          </a:p>
        </p:txBody>
      </p:sp>
      <p:sp>
        <p:nvSpPr>
          <p:cNvPr id="144" name="Oval 143"/>
          <p:cNvSpPr/>
          <p:nvPr/>
        </p:nvSpPr>
        <p:spPr>
          <a:xfrm>
            <a:off x="4690871" y="4251959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MdArrowForward_3C404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1455" y="4352544"/>
            <a:ext cx="256032" cy="256032"/>
          </a:xfrm>
          <a:prstGeom prst="rect">
            <a:avLst/>
          </a:prstGeom>
        </p:spPr>
      </p:pic>
      <p:sp>
        <p:nvSpPr>
          <p:cNvPr id="146" name="Pillar Decide"/>
          <p:cNvSpPr/>
          <p:nvPr/>
        </p:nvSpPr>
        <p:spPr>
          <a:xfrm>
            <a:off x="5084064" y="3703320"/>
            <a:ext cx="3895344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Badge MdRule"/>
          <p:cNvSpPr/>
          <p:nvPr/>
        </p:nvSpPr>
        <p:spPr>
          <a:xfrm>
            <a:off x="5404104" y="4023359"/>
            <a:ext cx="914400" cy="91440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MdRule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5272" y="4224527"/>
            <a:ext cx="512064" cy="512064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7562088" y="3977639"/>
            <a:ext cx="1143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E8EAED"/>
                </a:solidFill>
                <a:latin typeface="DM Sans"/>
              </a:rPr>
              <a:t>02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404104" y="5120640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C5221F"/>
                </a:solidFill>
                <a:latin typeface="DM Sans"/>
              </a:rPr>
              <a:t>Decide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04104" y="5669279"/>
            <a:ext cx="33467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02124"/>
                </a:solidFill>
                <a:latin typeface="DM Sans"/>
              </a:rPr>
              <a:t>Explicit rules plus an explainable risk score. </a:t>
            </a:r>
            <a:r>
              <a:rPr sz="1450" b="1" i="0">
                <a:solidFill>
                  <a:srgbClr val="202124"/>
                </a:solidFill>
                <a:latin typeface="DM Sans"/>
              </a:rPr>
              <a:t>Routine payments pass with zero friction.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404104" y="6812279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80868B"/>
                </a:solidFill>
                <a:latin typeface="DM Sans"/>
              </a:rPr>
              <a:t>POWERED BY</a:t>
            </a:r>
          </a:p>
        </p:txBody>
      </p:sp>
      <p:sp>
        <p:nvSpPr>
          <p:cNvPr id="153" name="Chip Gemini"/>
          <p:cNvSpPr/>
          <p:nvPr/>
        </p:nvSpPr>
        <p:spPr>
          <a:xfrm>
            <a:off x="5404104" y="7104888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SiGooglegemini_EA433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68696" y="7178040"/>
            <a:ext cx="219456" cy="219456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5879592" y="7104888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Gemini</a:t>
            </a:r>
          </a:p>
        </p:txBody>
      </p:sp>
      <p:sp>
        <p:nvSpPr>
          <p:cNvPr id="156" name="Chip Cloud Run"/>
          <p:cNvSpPr/>
          <p:nvPr/>
        </p:nvSpPr>
        <p:spPr>
          <a:xfrm>
            <a:off x="6684264" y="7104888"/>
            <a:ext cx="1444752" cy="36576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SiGooglecloud_EA433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48856" y="7178040"/>
            <a:ext cx="219456" cy="219456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7159752" y="710488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Cloud Run</a:t>
            </a:r>
          </a:p>
        </p:txBody>
      </p:sp>
      <p:sp>
        <p:nvSpPr>
          <p:cNvPr id="159" name="Oval 158"/>
          <p:cNvSpPr/>
          <p:nvPr/>
        </p:nvSpPr>
        <p:spPr>
          <a:xfrm>
            <a:off x="8915400" y="4251959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MdArrowForward_3C404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5984" y="4352544"/>
            <a:ext cx="256032" cy="256032"/>
          </a:xfrm>
          <a:prstGeom prst="rect">
            <a:avLst/>
          </a:prstGeom>
        </p:spPr>
      </p:pic>
      <p:sp>
        <p:nvSpPr>
          <p:cNvPr id="161" name="Pillar Confirm"/>
          <p:cNvSpPr/>
          <p:nvPr/>
        </p:nvSpPr>
        <p:spPr>
          <a:xfrm>
            <a:off x="9308592" y="3703320"/>
            <a:ext cx="3895344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Badge MdFingerprint"/>
          <p:cNvSpPr/>
          <p:nvPr/>
        </p:nvSpPr>
        <p:spPr>
          <a:xfrm>
            <a:off x="9628632" y="4023359"/>
            <a:ext cx="914400" cy="91440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MdFingerprint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29800" y="4224527"/>
            <a:ext cx="512064" cy="512064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1786615" y="3977639"/>
            <a:ext cx="1143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E8EAED"/>
                </a:solidFill>
                <a:latin typeface="DM Sans"/>
              </a:rPr>
              <a:t>03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628632" y="5120640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B06000"/>
                </a:solidFill>
                <a:latin typeface="DM Sans"/>
              </a:rPr>
              <a:t>Confirm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628632" y="5669279"/>
            <a:ext cx="33467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02124"/>
                </a:solidFill>
                <a:latin typeface="DM Sans"/>
              </a:rPr>
              <a:t>The </a:t>
            </a:r>
            <a:r>
              <a:rPr sz="1450" b="1" i="0">
                <a:solidFill>
                  <a:srgbClr val="202124"/>
                </a:solidFill>
                <a:latin typeface="DM Sans"/>
              </a:rPr>
              <a:t>real authority, never the requester,</a:t>
            </a:r>
            <a:r>
              <a:rPr sz="1450" b="0" i="0">
                <a:solidFill>
                  <a:srgbClr val="202124"/>
                </a:solidFill>
                <a:latin typeface="DM Sans"/>
              </a:rPr>
              <a:t> approves or denies with a passkey bound to amount + account.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628632" y="6812279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80868B"/>
                </a:solidFill>
                <a:latin typeface="DM Sans"/>
              </a:rPr>
              <a:t>POWERED BY</a:t>
            </a:r>
          </a:p>
        </p:txBody>
      </p:sp>
      <p:sp>
        <p:nvSpPr>
          <p:cNvPr id="168" name="Chip Firebase FCM"/>
          <p:cNvSpPr/>
          <p:nvPr/>
        </p:nvSpPr>
        <p:spPr>
          <a:xfrm>
            <a:off x="9628632" y="7104888"/>
            <a:ext cx="1700784" cy="36576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Picture 168" descr="SiFirebase_FBBC0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93224" y="7178040"/>
            <a:ext cx="219456" cy="219456"/>
          </a:xfrm>
          <a:prstGeom prst="rect">
            <a:avLst/>
          </a:prstGeom>
        </p:spPr>
      </p:pic>
      <p:sp>
        <p:nvSpPr>
          <p:cNvPr id="170" name="TextBox 169"/>
          <p:cNvSpPr txBox="1"/>
          <p:nvPr/>
        </p:nvSpPr>
        <p:spPr>
          <a:xfrm>
            <a:off x="10104119" y="7104888"/>
            <a:ext cx="12252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Firebase FCM</a:t>
            </a:r>
          </a:p>
        </p:txBody>
      </p:sp>
      <p:sp>
        <p:nvSpPr>
          <p:cNvPr id="171" name="Chip Passkeys"/>
          <p:cNvSpPr/>
          <p:nvPr/>
        </p:nvSpPr>
        <p:spPr>
          <a:xfrm>
            <a:off x="11420856" y="7104888"/>
            <a:ext cx="1359408" cy="365760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SiFidoalliance_FBBC04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85448" y="7178040"/>
            <a:ext cx="219456" cy="219456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11896344" y="7104888"/>
            <a:ext cx="883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Passkeys</a:t>
            </a:r>
          </a:p>
        </p:txBody>
      </p:sp>
      <p:sp>
        <p:nvSpPr>
          <p:cNvPr id="174" name="Oval 173"/>
          <p:cNvSpPr/>
          <p:nvPr/>
        </p:nvSpPr>
        <p:spPr>
          <a:xfrm>
            <a:off x="13139928" y="4251959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Picture 174" descr="MdArrowForward_3C404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40511" y="4352544"/>
            <a:ext cx="256032" cy="256032"/>
          </a:xfrm>
          <a:prstGeom prst="rect">
            <a:avLst/>
          </a:prstGeom>
        </p:spPr>
      </p:pic>
      <p:sp>
        <p:nvSpPr>
          <p:cNvPr id="176" name="Pillar Respond"/>
          <p:cNvSpPr/>
          <p:nvPr/>
        </p:nvSpPr>
        <p:spPr>
          <a:xfrm>
            <a:off x="13533119" y="3703320"/>
            <a:ext cx="3895344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Badge MdGavel"/>
          <p:cNvSpPr/>
          <p:nvPr/>
        </p:nvSpPr>
        <p:spPr>
          <a:xfrm>
            <a:off x="13853159" y="4023359"/>
            <a:ext cx="914400" cy="9144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8" name="Picture 177" descr="MdGavel_FFFFF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054328" y="4224527"/>
            <a:ext cx="512064" cy="512064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16011143" y="3977639"/>
            <a:ext cx="1143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400" b="1" i="0">
                <a:solidFill>
                  <a:srgbClr val="E8EAED"/>
                </a:solidFill>
                <a:latin typeface="DM Sans"/>
              </a:rPr>
              <a:t>04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3853159" y="5120640"/>
            <a:ext cx="334670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88038"/>
                </a:solidFill>
                <a:latin typeface="DM Sans"/>
              </a:rPr>
              <a:t>Respond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3853159" y="5669279"/>
            <a:ext cx="3346703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 i="0">
                <a:solidFill>
                  <a:srgbClr val="202124"/>
                </a:solidFill>
                <a:latin typeface="DM Sans"/>
              </a:rPr>
              <a:t>Tamper-evident evidence and a </a:t>
            </a:r>
            <a:r>
              <a:rPr sz="1450" b="1" i="0">
                <a:solidFill>
                  <a:srgbClr val="202124"/>
                </a:solidFill>
                <a:latin typeface="DM Sans"/>
              </a:rPr>
              <a:t>1930 / cybercrime.gov.in incident pack in under two minutes.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3853159" y="6812279"/>
            <a:ext cx="334670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80868B"/>
                </a:solidFill>
                <a:latin typeface="DM Sans"/>
              </a:rPr>
              <a:t>POWERED BY</a:t>
            </a:r>
          </a:p>
        </p:txBody>
      </p:sp>
      <p:sp>
        <p:nvSpPr>
          <p:cNvPr id="183" name="Chip Cloud KMS"/>
          <p:cNvSpPr/>
          <p:nvPr/>
        </p:nvSpPr>
        <p:spPr>
          <a:xfrm>
            <a:off x="13853159" y="7104888"/>
            <a:ext cx="1444752" cy="36576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4" name="Picture 183" descr="MdKey_34A85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4017751" y="7178040"/>
            <a:ext cx="219456" cy="219456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14328647" y="7104888"/>
            <a:ext cx="9692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Cloud KMS</a:t>
            </a:r>
          </a:p>
        </p:txBody>
      </p:sp>
      <p:sp>
        <p:nvSpPr>
          <p:cNvPr id="186" name="Chip Bucket Lock"/>
          <p:cNvSpPr/>
          <p:nvPr/>
        </p:nvSpPr>
        <p:spPr>
          <a:xfrm>
            <a:off x="15389351" y="7104888"/>
            <a:ext cx="1615440" cy="36576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SiGooglecloudstorage_34A85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553943" y="7178040"/>
            <a:ext cx="219456" cy="219456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15864839" y="7104888"/>
            <a:ext cx="1139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Bucket Lock</a:t>
            </a:r>
          </a:p>
        </p:txBody>
      </p:sp>
      <p:sp>
        <p:nvSpPr>
          <p:cNvPr id="189" name="Chip Gemini"/>
          <p:cNvSpPr/>
          <p:nvPr/>
        </p:nvSpPr>
        <p:spPr>
          <a:xfrm>
            <a:off x="13853159" y="7580375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0" name="Picture 189" descr="SiGooglegemini_34A85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017751" y="7653527"/>
            <a:ext cx="219456" cy="219456"/>
          </a:xfrm>
          <a:prstGeom prst="rect">
            <a:avLst/>
          </a:prstGeom>
        </p:spPr>
      </p:pic>
      <p:sp>
        <p:nvSpPr>
          <p:cNvPr id="191" name="TextBox 190"/>
          <p:cNvSpPr txBox="1"/>
          <p:nvPr/>
        </p:nvSpPr>
        <p:spPr>
          <a:xfrm>
            <a:off x="14328647" y="7580375"/>
            <a:ext cx="7132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02124"/>
                </a:solidFill>
                <a:latin typeface="DM Sans"/>
              </a:rPr>
              <a:t>Gemini</a:t>
            </a:r>
          </a:p>
        </p:txBody>
      </p:sp>
      <p:sp>
        <p:nvSpPr>
          <p:cNvPr id="192" name="Tagline"/>
          <p:cNvSpPr/>
          <p:nvPr/>
        </p:nvSpPr>
        <p:spPr>
          <a:xfrm>
            <a:off x="859536" y="8412480"/>
            <a:ext cx="16568928" cy="65836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3" name="Picture 192" descr="SiGooglegemini_4285F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43000" y="8577072"/>
            <a:ext cx="329184" cy="329184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1645920" y="8412480"/>
            <a:ext cx="155448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02124"/>
                </a:solidFill>
                <a:latin typeface="DM Sans"/>
              </a:rPr>
              <a:t>Detectors tell you a call might be fake. </a:t>
            </a:r>
            <a:r>
              <a:rPr sz="1700" b="1" i="0">
                <a:solidFill>
                  <a:srgbClr val="1A73E8"/>
                </a:solidFill>
                <a:latin typeface="DM Sans"/>
              </a:rPr>
              <a:t>VeriFi makes sure money can't move because of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896112" y="1256857"/>
            <a:ext cx="10588752" cy="96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3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TECHNICAL APPROACH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987552" y="2395728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7AFF"/>
                </a:solidFill>
                <a:latin typeface="DM Sans"/>
                <a:ea typeface="DM Sans"/>
                <a:cs typeface="DM Sans"/>
                <a:sym typeface="DM Sans"/>
              </a:rPr>
              <a:t>ARCHITECTURE DIAGRAM / WORKFLOW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4"/>
          <p:cNvSpPr txBox="1"/>
          <p:nvPr/>
        </p:nvSpPr>
        <p:spPr>
          <a:xfrm>
            <a:off x="1024128" y="9506700"/>
            <a:ext cx="2889504" cy="214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4535424" y="9506392"/>
            <a:ext cx="1316736" cy="215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8" u="none" cap="none" strike="noStrike">
                <a:solidFill>
                  <a:srgbClr val="6B6B6B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  <p:sp>
        <p:nvSpPr>
          <p:cNvPr id="136" name="Google badge"/>
          <p:cNvSpPr/>
          <p:nvPr/>
        </p:nvSpPr>
        <p:spPr>
          <a:xfrm>
            <a:off x="14700503" y="457200"/>
            <a:ext cx="2727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7" name="Picture 136" descr="SiGooglecloud_4285F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83383" y="539496"/>
            <a:ext cx="292608" cy="292608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15285719" y="457200"/>
            <a:ext cx="2142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124"/>
                </a:solidFill>
                <a:latin typeface="DM Sans"/>
              </a:rPr>
              <a:t>Built on Google Cloud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9966960" y="2578608"/>
            <a:ext cx="502920" cy="0"/>
          </a:xfrm>
          <a:prstGeom prst="line">
            <a:avLst/>
          </a:prstGeom>
          <a:ln w="28575">
            <a:solidFill>
              <a:srgbClr val="4285F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/>
          <p:cNvSpPr txBox="1"/>
          <p:nvPr/>
        </p:nvSpPr>
        <p:spPr>
          <a:xfrm>
            <a:off x="10561320" y="243230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368"/>
                </a:solidFill>
                <a:latin typeface="DM Sans"/>
              </a:rPr>
              <a:t>slow loop · async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12322175" y="2578608"/>
            <a:ext cx="502920" cy="0"/>
          </a:xfrm>
          <a:prstGeom prst="line">
            <a:avLst/>
          </a:prstGeom>
          <a:ln w="28575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2916535" y="243230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368"/>
                </a:solidFill>
                <a:latin typeface="DM Sans"/>
              </a:rPr>
              <a:t>fast loop · ≤ 300 ms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14915515" y="2578608"/>
            <a:ext cx="502920" cy="0"/>
          </a:xfrm>
          <a:prstGeom prst="line">
            <a:avLst/>
          </a:prstGeom>
          <a:ln w="28575">
            <a:solidFill>
              <a:srgbClr val="34A853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/>
          <p:cNvSpPr txBox="1"/>
          <p:nvPr/>
        </p:nvSpPr>
        <p:spPr>
          <a:xfrm>
            <a:off x="15509874" y="243230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368"/>
                </a:solidFill>
                <a:latin typeface="DM Sans"/>
              </a:rPr>
              <a:t>evidence</a:t>
            </a:r>
          </a:p>
        </p:txBody>
      </p:sp>
      <p:sp>
        <p:nvSpPr>
          <p:cNvPr id="145" name="GCP boundary"/>
          <p:cNvSpPr/>
          <p:nvPr/>
        </p:nvSpPr>
        <p:spPr>
          <a:xfrm>
            <a:off x="3493008" y="2944368"/>
            <a:ext cx="10771632" cy="6245352"/>
          </a:xfrm>
          <a:prstGeom prst="roundRect">
            <a:avLst>
              <a:gd name="adj" fmla="val 3000"/>
            </a:avLst>
          </a:prstGeom>
          <a:solidFill>
            <a:srgbClr val="FBFCFE"/>
          </a:solidFill>
          <a:ln w="19050">
            <a:solidFill>
              <a:srgbClr val="AECB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6" name="Picture 145" descr="SiGooglecloud_4285F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072384"/>
            <a:ext cx="329184" cy="329184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4133087" y="3044952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02124"/>
                </a:solidFill>
                <a:latin typeface="DM Sans"/>
              </a:rPr>
              <a:t>Google Cloud</a:t>
            </a:r>
            <a:r>
              <a:rPr sz="1250" b="0" i="0">
                <a:solidFill>
                  <a:srgbClr val="5F6368"/>
                </a:solidFill>
                <a:latin typeface="DM Sans"/>
              </a:rPr>
              <a:t>  ·  asia-south1 (Mumbai) · </a:t>
            </a:r>
            <a:r>
              <a:rPr sz="1250" b="1" i="0">
                <a:solidFill>
                  <a:srgbClr val="1A73E8"/>
                </a:solidFill>
                <a:latin typeface="DM Sans"/>
              </a:rPr>
              <a:t>Gemini reads, rules decide, the real CFO confirms</a:t>
            </a:r>
          </a:p>
        </p:txBody>
      </p:sp>
      <p:sp>
        <p:nvSpPr>
          <p:cNvPr id="148" name="Lane Slow loop · Trace"/>
          <p:cNvSpPr/>
          <p:nvPr/>
        </p:nvSpPr>
        <p:spPr>
          <a:xfrm>
            <a:off x="3639312" y="3547872"/>
            <a:ext cx="10479024" cy="1965960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767328" y="362102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A73E8"/>
                </a:solidFill>
                <a:latin typeface="DM Sans"/>
              </a:rPr>
              <a:t>SLOW LOOP · TRACE</a:t>
            </a:r>
          </a:p>
        </p:txBody>
      </p:sp>
      <p:sp>
        <p:nvSpPr>
          <p:cNvPr id="150" name="Lane Fast loop · Decide  (no LLM on this path)"/>
          <p:cNvSpPr/>
          <p:nvPr/>
        </p:nvSpPr>
        <p:spPr>
          <a:xfrm>
            <a:off x="3639312" y="5641848"/>
            <a:ext cx="10479024" cy="1965960"/>
          </a:xfrm>
          <a:prstGeom prst="roundRect">
            <a:avLst>
              <a:gd name="adj" fmla="val 6000"/>
            </a:avLst>
          </a:prstGeom>
          <a:solidFill>
            <a:srgbClr val="F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767328" y="5715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C5221F"/>
                </a:solidFill>
                <a:latin typeface="DM Sans"/>
              </a:rPr>
              <a:t>FAST LOOP · DECIDE  (NO LLM ON THIS PATH)</a:t>
            </a:r>
          </a:p>
        </p:txBody>
      </p:sp>
      <p:sp>
        <p:nvSpPr>
          <p:cNvPr id="152" name="Lane Trust &amp; evidence"/>
          <p:cNvSpPr/>
          <p:nvPr/>
        </p:nvSpPr>
        <p:spPr>
          <a:xfrm>
            <a:off x="3639312" y="7735824"/>
            <a:ext cx="10479024" cy="1325880"/>
          </a:xfrm>
          <a:prstGeom prst="roundRect">
            <a:avLst>
              <a:gd name="adj" fmla="val 6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767328" y="780897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188038"/>
                </a:solidFill>
                <a:latin typeface="DM Sans"/>
              </a:rPr>
              <a:t>TRUST &amp; EVIDENCE</a:t>
            </a:r>
          </a:p>
        </p:txBody>
      </p:sp>
      <p:sp>
        <p:nvSpPr>
          <p:cNvPr id="154" name="Node Pub/Sub"/>
          <p:cNvSpPr/>
          <p:nvPr/>
        </p:nvSpPr>
        <p:spPr>
          <a:xfrm>
            <a:off x="3767328" y="3904487"/>
            <a:ext cx="2331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Badge SiGooglepubsub"/>
          <p:cNvSpPr/>
          <p:nvPr/>
        </p:nvSpPr>
        <p:spPr>
          <a:xfrm>
            <a:off x="3913632" y="4361688"/>
            <a:ext cx="566928" cy="56692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6" name="Picture 155" descr="SiGooglepubsub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8356" y="4486412"/>
            <a:ext cx="317479" cy="317479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4608576" y="3977639"/>
            <a:ext cx="1399031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Pub/Sub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Gmail push + Meet events</a:t>
            </a:r>
          </a:p>
        </p:txBody>
      </p:sp>
      <p:sp>
        <p:nvSpPr>
          <p:cNvPr id="158" name="Node Sensitive Data Protection"/>
          <p:cNvSpPr/>
          <p:nvPr/>
        </p:nvSpPr>
        <p:spPr>
          <a:xfrm>
            <a:off x="6400800" y="3904487"/>
            <a:ext cx="2331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Badge MdShield"/>
          <p:cNvSpPr/>
          <p:nvPr/>
        </p:nvSpPr>
        <p:spPr>
          <a:xfrm>
            <a:off x="6547104" y="4361688"/>
            <a:ext cx="566928" cy="56692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0" name="Picture 159" descr="MdShield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1828" y="4486412"/>
            <a:ext cx="317479" cy="317479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7242048" y="3977639"/>
            <a:ext cx="1399031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Sensitive Data Protection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Tokenize A/c, IFSC; drop Aadhaar</a:t>
            </a:r>
          </a:p>
        </p:txBody>
      </p:sp>
      <p:sp>
        <p:nvSpPr>
          <p:cNvPr id="162" name="Node Gemini on Vertex AI"/>
          <p:cNvSpPr/>
          <p:nvPr/>
        </p:nvSpPr>
        <p:spPr>
          <a:xfrm>
            <a:off x="9034272" y="3904487"/>
            <a:ext cx="2331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Badge SiGooglegemini"/>
          <p:cNvSpPr/>
          <p:nvPr/>
        </p:nvSpPr>
        <p:spPr>
          <a:xfrm>
            <a:off x="9180576" y="4361688"/>
            <a:ext cx="566928" cy="566928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SiGooglegemini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300" y="4486412"/>
            <a:ext cx="317479" cy="317479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875519" y="3977639"/>
            <a:ext cx="1399031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Gemini on Vertex AI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Intent, urgency, authority claims + Web Risk</a:t>
            </a:r>
          </a:p>
        </p:txBody>
      </p:sp>
      <p:sp>
        <p:nvSpPr>
          <p:cNvPr id="166" name="Node Spanner Graph"/>
          <p:cNvSpPr/>
          <p:nvPr/>
        </p:nvSpPr>
        <p:spPr>
          <a:xfrm>
            <a:off x="11667744" y="3904487"/>
            <a:ext cx="2331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Badge SiGooglecloudspanner"/>
          <p:cNvSpPr/>
          <p:nvPr/>
        </p:nvSpPr>
        <p:spPr>
          <a:xfrm>
            <a:off x="11814048" y="4361688"/>
            <a:ext cx="566928" cy="566928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SiGooglecloudspanner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38772" y="4486412"/>
            <a:ext cx="317479" cy="317479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12508992" y="3977639"/>
            <a:ext cx="1399031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Spanner Graph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Instruction Lineage Graph</a:t>
            </a:r>
          </a:p>
        </p:txBody>
      </p:sp>
      <p:sp>
        <p:nvSpPr>
          <p:cNvPr id="170" name="Node Cloud Run API"/>
          <p:cNvSpPr/>
          <p:nvPr/>
        </p:nvSpPr>
        <p:spPr>
          <a:xfrm>
            <a:off x="3767328" y="5998464"/>
            <a:ext cx="2331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Badge SiGooglecloud"/>
          <p:cNvSpPr/>
          <p:nvPr/>
        </p:nvSpPr>
        <p:spPr>
          <a:xfrm>
            <a:off x="3913632" y="6455664"/>
            <a:ext cx="566928" cy="56692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SiGooglecloud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38356" y="6580388"/>
            <a:ext cx="317479" cy="317479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4608576" y="6071616"/>
            <a:ext cx="1399031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Cloud Run API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FastAPI · /payments/evaluate</a:t>
            </a:r>
          </a:p>
        </p:txBody>
      </p:sp>
      <p:sp>
        <p:nvSpPr>
          <p:cNvPr id="174" name="Node Policy engine"/>
          <p:cNvSpPr/>
          <p:nvPr/>
        </p:nvSpPr>
        <p:spPr>
          <a:xfrm>
            <a:off x="6400800" y="5998464"/>
            <a:ext cx="2331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Badge MdRule"/>
          <p:cNvSpPr/>
          <p:nvPr/>
        </p:nvSpPr>
        <p:spPr>
          <a:xfrm>
            <a:off x="6547104" y="6455664"/>
            <a:ext cx="566928" cy="56692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Picture 175" descr="MdRule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1828" y="6580388"/>
            <a:ext cx="317479" cy="317479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7242048" y="6071616"/>
            <a:ext cx="1399031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Policy engine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Rules R1–R7 + bounded risk score</a:t>
            </a:r>
          </a:p>
        </p:txBody>
      </p:sp>
      <p:sp>
        <p:nvSpPr>
          <p:cNvPr id="178" name="Node Assurance tier"/>
          <p:cNvSpPr/>
          <p:nvPr/>
        </p:nvSpPr>
        <p:spPr>
          <a:xfrm>
            <a:off x="9034272" y="5998464"/>
            <a:ext cx="2331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Badge MdTraffic"/>
          <p:cNvSpPr/>
          <p:nvPr/>
        </p:nvSpPr>
        <p:spPr>
          <a:xfrm>
            <a:off x="9180576" y="6455664"/>
            <a:ext cx="566928" cy="566928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MdTraffic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5300" y="6580388"/>
            <a:ext cx="317479" cy="317479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9875519" y="6071616"/>
            <a:ext cx="1399031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Assurance tier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T0 pass · T1 confirm · T2 two + wait</a:t>
            </a:r>
          </a:p>
        </p:txBody>
      </p:sp>
      <p:sp>
        <p:nvSpPr>
          <p:cNvPr id="182" name="Node Firebase Cloud Messaging"/>
          <p:cNvSpPr/>
          <p:nvPr/>
        </p:nvSpPr>
        <p:spPr>
          <a:xfrm>
            <a:off x="11667744" y="5998464"/>
            <a:ext cx="233172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Badge SiFirebase"/>
          <p:cNvSpPr/>
          <p:nvPr/>
        </p:nvSpPr>
        <p:spPr>
          <a:xfrm>
            <a:off x="11814048" y="6455664"/>
            <a:ext cx="566928" cy="566928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4" name="Picture 183" descr="SiFirebase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38772" y="6580388"/>
            <a:ext cx="317479" cy="317479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12508992" y="6071616"/>
            <a:ext cx="1399031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Firebase Cloud Messaging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Push to the real authority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6126480" y="4645152"/>
            <a:ext cx="246888" cy="0"/>
          </a:xfrm>
          <a:prstGeom prst="line">
            <a:avLst/>
          </a:prstGeom>
          <a:ln w="25400">
            <a:solidFill>
              <a:srgbClr val="4285F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6126480" y="6739127"/>
            <a:ext cx="246888" cy="0"/>
          </a:xfrm>
          <a:prstGeom prst="line">
            <a:avLst/>
          </a:prstGeom>
          <a:ln w="254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8759952" y="4645152"/>
            <a:ext cx="246888" cy="0"/>
          </a:xfrm>
          <a:prstGeom prst="line">
            <a:avLst/>
          </a:prstGeom>
          <a:ln w="25400">
            <a:solidFill>
              <a:srgbClr val="4285F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8759952" y="6739127"/>
            <a:ext cx="246888" cy="0"/>
          </a:xfrm>
          <a:prstGeom prst="line">
            <a:avLst/>
          </a:prstGeom>
          <a:ln w="254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1393424" y="4645152"/>
            <a:ext cx="246888" cy="0"/>
          </a:xfrm>
          <a:prstGeom prst="line">
            <a:avLst/>
          </a:prstGeom>
          <a:ln w="25400">
            <a:solidFill>
              <a:srgbClr val="4285F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1393424" y="6739127"/>
            <a:ext cx="246888" cy="0"/>
          </a:xfrm>
          <a:prstGeom prst="line">
            <a:avLst/>
          </a:prstGeom>
          <a:ln w="254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2833604" y="5385816"/>
            <a:ext cx="0" cy="466344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H="1">
            <a:off x="7566660" y="5852160"/>
            <a:ext cx="5266944" cy="0"/>
          </a:xfrm>
          <a:prstGeom prst="line">
            <a:avLst/>
          </a:prstGeom>
          <a:ln w="254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66660" y="5852160"/>
            <a:ext cx="0" cy="146304"/>
          </a:xfrm>
          <a:prstGeom prst="line">
            <a:avLst/>
          </a:prstGeom>
          <a:ln w="25400">
            <a:solidFill>
              <a:srgbClr val="34A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extBox 194"/>
          <p:cNvSpPr txBox="1"/>
          <p:nvPr/>
        </p:nvSpPr>
        <p:spPr>
          <a:xfrm>
            <a:off x="8851392" y="5605272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88038"/>
                </a:solidFill>
                <a:latin typeface="DM Sans"/>
              </a:rPr>
              <a:t>provenance facts · 150 ms</a:t>
            </a:r>
          </a:p>
        </p:txBody>
      </p:sp>
      <p:sp>
        <p:nvSpPr>
          <p:cNvPr id="196" name="Node Cloud SQL"/>
          <p:cNvSpPr/>
          <p:nvPr/>
        </p:nvSpPr>
        <p:spPr>
          <a:xfrm>
            <a:off x="3767328" y="8046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Badge MdStorage"/>
          <p:cNvSpPr/>
          <p:nvPr/>
        </p:nvSpPr>
        <p:spPr>
          <a:xfrm>
            <a:off x="3913632" y="8266176"/>
            <a:ext cx="475488" cy="47548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8" name="Picture 197" descr="MdStorage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18239" y="8370783"/>
            <a:ext cx="266273" cy="266273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4517136" y="8119872"/>
            <a:ext cx="149047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DM Sans"/>
              </a:rPr>
              <a:t>Cloud SQL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DM Sans"/>
              </a:rPr>
              <a:t>System of record</a:t>
            </a:r>
          </a:p>
        </p:txBody>
      </p:sp>
      <p:sp>
        <p:nvSpPr>
          <p:cNvPr id="200" name="Node Cloud KMS"/>
          <p:cNvSpPr/>
          <p:nvPr/>
        </p:nvSpPr>
        <p:spPr>
          <a:xfrm>
            <a:off x="6400800" y="8046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Badge MdKey"/>
          <p:cNvSpPr/>
          <p:nvPr/>
        </p:nvSpPr>
        <p:spPr>
          <a:xfrm>
            <a:off x="6547104" y="8266176"/>
            <a:ext cx="475488" cy="47548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2" name="Picture 201" descr="MdKey_FFFFF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51711" y="8370783"/>
            <a:ext cx="266273" cy="266273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7150607" y="8119872"/>
            <a:ext cx="149047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DM Sans"/>
              </a:rPr>
              <a:t>Cloud KMS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DM Sans"/>
              </a:rPr>
              <a:t>Signs the evidence chain</a:t>
            </a:r>
          </a:p>
        </p:txBody>
      </p:sp>
      <p:sp>
        <p:nvSpPr>
          <p:cNvPr id="204" name="Node BigQuery"/>
          <p:cNvSpPr/>
          <p:nvPr/>
        </p:nvSpPr>
        <p:spPr>
          <a:xfrm>
            <a:off x="9034272" y="8046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Badge SiGooglebigquery"/>
          <p:cNvSpPr/>
          <p:nvPr/>
        </p:nvSpPr>
        <p:spPr>
          <a:xfrm>
            <a:off x="9180576" y="8266176"/>
            <a:ext cx="475488" cy="475488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6" name="Picture 205" descr="SiGooglebigquery_FFFFFF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85183" y="8370783"/>
            <a:ext cx="266273" cy="266273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9784080" y="8119872"/>
            <a:ext cx="149047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DM Sans"/>
              </a:rPr>
              <a:t>BigQuery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DM Sans"/>
              </a:rPr>
              <a:t>Fraud analytics</a:t>
            </a:r>
          </a:p>
        </p:txBody>
      </p:sp>
      <p:sp>
        <p:nvSpPr>
          <p:cNvPr id="208" name="Node Bucket Lock"/>
          <p:cNvSpPr/>
          <p:nvPr/>
        </p:nvSpPr>
        <p:spPr>
          <a:xfrm>
            <a:off x="11667744" y="80467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Badge SiGooglecloudstorage"/>
          <p:cNvSpPr/>
          <p:nvPr/>
        </p:nvSpPr>
        <p:spPr>
          <a:xfrm>
            <a:off x="11814048" y="8266176"/>
            <a:ext cx="475488" cy="475488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0" name="Picture 209" descr="SiGooglecloudstorage_FFFFF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918655" y="8370783"/>
            <a:ext cx="266273" cy="266273"/>
          </a:xfrm>
          <a:prstGeom prst="rect">
            <a:avLst/>
          </a:prstGeom>
        </p:spPr>
      </p:pic>
      <p:sp>
        <p:nvSpPr>
          <p:cNvPr id="211" name="TextBox 210"/>
          <p:cNvSpPr txBox="1"/>
          <p:nvPr/>
        </p:nvSpPr>
        <p:spPr>
          <a:xfrm>
            <a:off x="12417552" y="8119872"/>
            <a:ext cx="149047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DM Sans"/>
              </a:rPr>
              <a:t>Bucket Lock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DM Sans"/>
              </a:rPr>
              <a:t>WORM evidence store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7566660" y="7479792"/>
            <a:ext cx="0" cy="566928"/>
          </a:xfrm>
          <a:prstGeom prst="line">
            <a:avLst/>
          </a:prstGeom>
          <a:ln w="25400">
            <a:solidFill>
              <a:srgbClr val="34A853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6126480" y="8503920"/>
            <a:ext cx="246888" cy="0"/>
          </a:xfrm>
          <a:prstGeom prst="line">
            <a:avLst/>
          </a:prstGeom>
          <a:ln w="22225">
            <a:solidFill>
              <a:srgbClr val="34A853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8759952" y="8503920"/>
            <a:ext cx="246888" cy="0"/>
          </a:xfrm>
          <a:prstGeom prst="line">
            <a:avLst/>
          </a:prstGeom>
          <a:ln w="22225">
            <a:solidFill>
              <a:srgbClr val="34A853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393424" y="8503920"/>
            <a:ext cx="246888" cy="0"/>
          </a:xfrm>
          <a:prstGeom prst="line">
            <a:avLst/>
          </a:prstGeom>
          <a:ln w="22225">
            <a:solidFill>
              <a:srgbClr val="34A853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859536" y="301752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F6368"/>
                </a:solidFill>
                <a:latin typeface="DM Sans"/>
              </a:rPr>
              <a:t>SOURCES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4612112" y="301752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5F6368"/>
                </a:solidFill>
                <a:latin typeface="DM Sans"/>
              </a:rPr>
              <a:t>PEOPLE</a:t>
            </a:r>
          </a:p>
        </p:txBody>
      </p:sp>
      <p:sp>
        <p:nvSpPr>
          <p:cNvPr id="218" name="Node Gmail"/>
          <p:cNvSpPr/>
          <p:nvPr/>
        </p:nvSpPr>
        <p:spPr>
          <a:xfrm>
            <a:off x="859536" y="3767328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Badge SiGmail"/>
          <p:cNvSpPr/>
          <p:nvPr/>
        </p:nvSpPr>
        <p:spPr>
          <a:xfrm>
            <a:off x="1005839" y="3959352"/>
            <a:ext cx="457200" cy="45720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0" name="Picture 219" descr="SiGmail_FFFFF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6424" y="4059936"/>
            <a:ext cx="256032" cy="256032"/>
          </a:xfrm>
          <a:prstGeom prst="rect">
            <a:avLst/>
          </a:prstGeom>
        </p:spPr>
      </p:pic>
      <p:sp>
        <p:nvSpPr>
          <p:cNvPr id="221" name="TextBox 220"/>
          <p:cNvSpPr txBox="1"/>
          <p:nvPr/>
        </p:nvSpPr>
        <p:spPr>
          <a:xfrm>
            <a:off x="1591056" y="3840480"/>
            <a:ext cx="15087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DM Sans"/>
              </a:rPr>
              <a:t>Gmail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DM Sans"/>
              </a:rPr>
              <a:t>Finance mailboxes</a:t>
            </a:r>
          </a:p>
        </p:txBody>
      </p:sp>
      <p:sp>
        <p:nvSpPr>
          <p:cNvPr id="222" name="Node Google Meet"/>
          <p:cNvSpPr/>
          <p:nvPr/>
        </p:nvSpPr>
        <p:spPr>
          <a:xfrm>
            <a:off x="859536" y="4718304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Badge SiGooglemeet"/>
          <p:cNvSpPr/>
          <p:nvPr/>
        </p:nvSpPr>
        <p:spPr>
          <a:xfrm>
            <a:off x="1005839" y="4910328"/>
            <a:ext cx="457200" cy="45720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4" name="Picture 223" descr="SiGooglemeet_FFFFFF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6424" y="5010912"/>
            <a:ext cx="256032" cy="256032"/>
          </a:xfrm>
          <a:prstGeom prst="rect">
            <a:avLst/>
          </a:prstGeom>
        </p:spPr>
      </p:pic>
      <p:sp>
        <p:nvSpPr>
          <p:cNvPr id="225" name="TextBox 224"/>
          <p:cNvSpPr txBox="1"/>
          <p:nvPr/>
        </p:nvSpPr>
        <p:spPr>
          <a:xfrm>
            <a:off x="1591056" y="4791456"/>
            <a:ext cx="15087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DM Sans"/>
              </a:rPr>
              <a:t>Google Meet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DM Sans"/>
              </a:rPr>
              <a:t>Participants, transcripts</a:t>
            </a:r>
          </a:p>
        </p:txBody>
      </p:sp>
      <p:sp>
        <p:nvSpPr>
          <p:cNvPr id="226" name="Node ERP / Treasury"/>
          <p:cNvSpPr/>
          <p:nvPr/>
        </p:nvSpPr>
        <p:spPr>
          <a:xfrm>
            <a:off x="859536" y="6272784"/>
            <a:ext cx="23317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Badge MdAccountBalance"/>
          <p:cNvSpPr/>
          <p:nvPr/>
        </p:nvSpPr>
        <p:spPr>
          <a:xfrm>
            <a:off x="1005839" y="6464808"/>
            <a:ext cx="457200" cy="45720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8" name="Picture 227" descr="MdAccountBalance_FFFFFF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6424" y="6565392"/>
            <a:ext cx="256032" cy="256032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1591056" y="6345936"/>
            <a:ext cx="15087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DM Sans"/>
              </a:rPr>
              <a:t>ERP / Treasury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DM Sans"/>
              </a:rPr>
              <a:t>Payment release hook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3218687" y="4187952"/>
            <a:ext cx="521209" cy="0"/>
          </a:xfrm>
          <a:prstGeom prst="line">
            <a:avLst/>
          </a:prstGeom>
          <a:ln w="25400">
            <a:solidFill>
              <a:srgbClr val="4285F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3218687" y="5138928"/>
            <a:ext cx="521209" cy="0"/>
          </a:xfrm>
          <a:prstGeom prst="line">
            <a:avLst/>
          </a:prstGeom>
          <a:ln w="25400">
            <a:solidFill>
              <a:srgbClr val="4285F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3218687" y="6693408"/>
            <a:ext cx="521209" cy="0"/>
          </a:xfrm>
          <a:prstGeom prst="line">
            <a:avLst/>
          </a:prstGeom>
          <a:ln w="254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859536" y="722376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02124"/>
                </a:solidFill>
                <a:latin typeface="DM Sans"/>
              </a:rPr>
              <a:t>release or hold</a:t>
            </a:r>
            <a:r>
              <a:rPr sz="1050" b="0" i="0">
                <a:solidFill>
                  <a:srgbClr val="80868B"/>
                </a:solidFill>
                <a:latin typeface="DM Sans"/>
              </a:rPr>
              <a:t> returned to the ERP, HMAC-signed</a:t>
            </a:r>
          </a:p>
        </p:txBody>
      </p:sp>
      <p:sp>
        <p:nvSpPr>
          <p:cNvPr id="234" name="Node Analyst console"/>
          <p:cNvSpPr/>
          <p:nvPr/>
        </p:nvSpPr>
        <p:spPr>
          <a:xfrm>
            <a:off x="14612112" y="3904487"/>
            <a:ext cx="281635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Badge MdDashboard"/>
          <p:cNvSpPr/>
          <p:nvPr/>
        </p:nvSpPr>
        <p:spPr>
          <a:xfrm>
            <a:off x="14758416" y="4361688"/>
            <a:ext cx="566928" cy="566928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6" name="Picture 235" descr="MdDashboard_FFFFFF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883140" y="4486412"/>
            <a:ext cx="317479" cy="317479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15453360" y="3977639"/>
            <a:ext cx="1883664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Analyst console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Gemini copilot explains holds</a:t>
            </a:r>
          </a:p>
        </p:txBody>
      </p:sp>
      <p:sp>
        <p:nvSpPr>
          <p:cNvPr id="238" name="Node CFO's phone"/>
          <p:cNvSpPr/>
          <p:nvPr/>
        </p:nvSpPr>
        <p:spPr>
          <a:xfrm>
            <a:off x="14612112" y="5998464"/>
            <a:ext cx="2816352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Badge MdPhoneIphone"/>
          <p:cNvSpPr/>
          <p:nvPr/>
        </p:nvSpPr>
        <p:spPr>
          <a:xfrm>
            <a:off x="14758416" y="6455664"/>
            <a:ext cx="566928" cy="566928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0" name="Picture 239" descr="MdPhoneIphone_FFFFFF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883140" y="6580388"/>
            <a:ext cx="317479" cy="317479"/>
          </a:xfrm>
          <a:prstGeom prst="rect">
            <a:avLst/>
          </a:prstGeom>
        </p:spPr>
      </p:pic>
      <p:sp>
        <p:nvSpPr>
          <p:cNvPr id="241" name="TextBox 240"/>
          <p:cNvSpPr txBox="1"/>
          <p:nvPr/>
        </p:nvSpPr>
        <p:spPr>
          <a:xfrm>
            <a:off x="15453360" y="6071616"/>
            <a:ext cx="1883664" cy="1335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 i="0">
                <a:solidFill>
                  <a:srgbClr val="202124"/>
                </a:solidFill>
                <a:latin typeface="DM Sans"/>
              </a:rPr>
              <a:t>CFO's phone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5F6368"/>
                </a:solidFill>
                <a:latin typeface="DM Sans"/>
              </a:rPr>
              <a:t>Passkey: Approve / Deny</a:t>
            </a:r>
          </a:p>
        </p:txBody>
      </p:sp>
      <p:sp>
        <p:nvSpPr>
          <p:cNvPr id="242" name="Node 1930 incident pack"/>
          <p:cNvSpPr/>
          <p:nvPr/>
        </p:nvSpPr>
        <p:spPr>
          <a:xfrm>
            <a:off x="14612112" y="8046720"/>
            <a:ext cx="281635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Badge MdDescription"/>
          <p:cNvSpPr/>
          <p:nvPr/>
        </p:nvSpPr>
        <p:spPr>
          <a:xfrm>
            <a:off x="14758416" y="8266176"/>
            <a:ext cx="475488" cy="475488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4" name="Picture 243" descr="MdDescription_FFFFFF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4863023" y="8370783"/>
            <a:ext cx="266273" cy="266273"/>
          </a:xfrm>
          <a:prstGeom prst="rect">
            <a:avLst/>
          </a:prstGeom>
        </p:spPr>
      </p:pic>
      <p:sp>
        <p:nvSpPr>
          <p:cNvPr id="245" name="TextBox 244"/>
          <p:cNvSpPr txBox="1"/>
          <p:nvPr/>
        </p:nvSpPr>
        <p:spPr>
          <a:xfrm>
            <a:off x="15361920" y="8119872"/>
            <a:ext cx="1975104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202124"/>
                </a:solidFill>
                <a:latin typeface="DM Sans"/>
              </a:rPr>
              <a:t>1930 incident pack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DM Sans"/>
              </a:rPr>
              <a:t>cybercrime.gov.in + bank recall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14026896" y="4645152"/>
            <a:ext cx="557784" cy="0"/>
          </a:xfrm>
          <a:prstGeom prst="line">
            <a:avLst/>
          </a:prstGeom>
          <a:ln w="25400">
            <a:solidFill>
              <a:srgbClr val="4285F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4026896" y="6739127"/>
            <a:ext cx="557784" cy="0"/>
          </a:xfrm>
          <a:prstGeom prst="line">
            <a:avLst/>
          </a:prstGeom>
          <a:ln w="25400">
            <a:solidFill>
              <a:srgbClr val="EA43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4026896" y="8503920"/>
            <a:ext cx="557784" cy="0"/>
          </a:xfrm>
          <a:prstGeom prst="line">
            <a:avLst/>
          </a:prstGeom>
          <a:ln w="22225">
            <a:solidFill>
              <a:srgbClr val="34A853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5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5"/>
          <p:cNvSpPr txBox="1"/>
          <p:nvPr/>
        </p:nvSpPr>
        <p:spPr>
          <a:xfrm>
            <a:off x="896112" y="1256857"/>
            <a:ext cx="10588752" cy="9659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3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TECH STACK</a:t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5"/>
          <p:cNvSpPr txBox="1"/>
          <p:nvPr/>
        </p:nvSpPr>
        <p:spPr>
          <a:xfrm>
            <a:off x="1024128" y="9506700"/>
            <a:ext cx="2889504" cy="214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4535424" y="9506392"/>
            <a:ext cx="1316736" cy="215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8" u="none" cap="none" strike="noStrike">
                <a:solidFill>
                  <a:srgbClr val="6B6B6B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  <p:sp>
        <p:nvSpPr>
          <p:cNvPr id="162" name="Google badge"/>
          <p:cNvSpPr/>
          <p:nvPr/>
        </p:nvSpPr>
        <p:spPr>
          <a:xfrm>
            <a:off x="14700503" y="457200"/>
            <a:ext cx="2727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SiGooglecloud_4285F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883383" y="539496"/>
            <a:ext cx="292608" cy="292608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5285719" y="457200"/>
            <a:ext cx="2142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124"/>
                </a:solidFill>
                <a:latin typeface="DM Sans"/>
              </a:rPr>
              <a:t>Built on Google Cloud</a:t>
            </a:r>
          </a:p>
        </p:txBody>
      </p:sp>
      <p:sp>
        <p:nvSpPr>
          <p:cNvPr id="165" name="Stack Frontend"/>
          <p:cNvSpPr/>
          <p:nvPr/>
        </p:nvSpPr>
        <p:spPr>
          <a:xfrm>
            <a:off x="859536" y="2606040"/>
            <a:ext cx="309432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Badge MdWeb"/>
          <p:cNvSpPr/>
          <p:nvPr/>
        </p:nvSpPr>
        <p:spPr>
          <a:xfrm>
            <a:off x="1133856" y="2880360"/>
            <a:ext cx="713232" cy="71323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MdWeb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0767" y="3037271"/>
            <a:ext cx="399409" cy="399409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2002536" y="2880360"/>
            <a:ext cx="181416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1A73E8"/>
                </a:solidFill>
                <a:latin typeface="DM Sans"/>
              </a:rPr>
              <a:t>FRONTEND</a:t>
            </a:r>
          </a:p>
        </p:txBody>
      </p:sp>
      <p:sp>
        <p:nvSpPr>
          <p:cNvPr id="169" name="Item Next.js + TypeScript"/>
          <p:cNvSpPr/>
          <p:nvPr/>
        </p:nvSpPr>
        <p:spPr>
          <a:xfrm>
            <a:off x="1133856" y="3867912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0" name="Picture 169" descr="SiNextdotjs_3C404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71016" y="3977640"/>
            <a:ext cx="274320" cy="274320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682495" y="3867912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Next.js + TypeScript</a:t>
            </a:r>
          </a:p>
        </p:txBody>
      </p:sp>
      <p:sp>
        <p:nvSpPr>
          <p:cNvPr id="172" name="Item Approver PWA"/>
          <p:cNvSpPr/>
          <p:nvPr/>
        </p:nvSpPr>
        <p:spPr>
          <a:xfrm>
            <a:off x="1133856" y="4489704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MdPhoneIphone_3C404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71016" y="4599432"/>
            <a:ext cx="274320" cy="274320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1682495" y="4489704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Approver PWA</a:t>
            </a:r>
          </a:p>
        </p:txBody>
      </p:sp>
      <p:sp>
        <p:nvSpPr>
          <p:cNvPr id="175" name="Item Analyst Console"/>
          <p:cNvSpPr/>
          <p:nvPr/>
        </p:nvSpPr>
        <p:spPr>
          <a:xfrm>
            <a:off x="1133856" y="5111496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6" name="Picture 175" descr="MdDashboard_3C404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1016" y="5221224"/>
            <a:ext cx="274320" cy="274320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682495" y="5111496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Analyst Console</a:t>
            </a:r>
          </a:p>
        </p:txBody>
      </p:sp>
      <p:sp>
        <p:nvSpPr>
          <p:cNvPr id="178" name="Stack Backend"/>
          <p:cNvSpPr/>
          <p:nvPr/>
        </p:nvSpPr>
        <p:spPr>
          <a:xfrm>
            <a:off x="4228185" y="2606040"/>
            <a:ext cx="309432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Badge MdDns"/>
          <p:cNvSpPr/>
          <p:nvPr/>
        </p:nvSpPr>
        <p:spPr>
          <a:xfrm>
            <a:off x="4502505" y="2880360"/>
            <a:ext cx="713232" cy="713232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MdDns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59416" y="3037271"/>
            <a:ext cx="399409" cy="399409"/>
          </a:xfrm>
          <a:prstGeom prst="rect">
            <a:avLst/>
          </a:prstGeom>
        </p:spPr>
      </p:pic>
      <p:sp>
        <p:nvSpPr>
          <p:cNvPr id="181" name="TextBox 180"/>
          <p:cNvSpPr txBox="1"/>
          <p:nvPr/>
        </p:nvSpPr>
        <p:spPr>
          <a:xfrm>
            <a:off x="5371185" y="2880360"/>
            <a:ext cx="181416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C5221F"/>
                </a:solidFill>
                <a:latin typeface="DM Sans"/>
              </a:rPr>
              <a:t>BACKEND</a:t>
            </a:r>
          </a:p>
        </p:txBody>
      </p:sp>
      <p:sp>
        <p:nvSpPr>
          <p:cNvPr id="182" name="Item FastAPI · Python"/>
          <p:cNvSpPr/>
          <p:nvPr/>
        </p:nvSpPr>
        <p:spPr>
          <a:xfrm>
            <a:off x="4502505" y="3867912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SiFastapi_3C404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39665" y="3977640"/>
            <a:ext cx="274320" cy="274320"/>
          </a:xfrm>
          <a:prstGeom prst="rect">
            <a:avLst/>
          </a:prstGeom>
        </p:spPr>
      </p:pic>
      <p:sp>
        <p:nvSpPr>
          <p:cNvPr id="184" name="TextBox 183"/>
          <p:cNvSpPr txBox="1"/>
          <p:nvPr/>
        </p:nvSpPr>
        <p:spPr>
          <a:xfrm>
            <a:off x="5051145" y="3867912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FastAPI · Python</a:t>
            </a:r>
          </a:p>
        </p:txBody>
      </p:sp>
      <p:sp>
        <p:nvSpPr>
          <p:cNvPr id="185" name="Item Pub/Sub workers"/>
          <p:cNvSpPr/>
          <p:nvPr/>
        </p:nvSpPr>
        <p:spPr>
          <a:xfrm>
            <a:off x="4502505" y="4489704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" name="Picture 185" descr="SiGooglepubsub_3C4043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39665" y="4599432"/>
            <a:ext cx="274320" cy="274320"/>
          </a:xfrm>
          <a:prstGeom prst="rect">
            <a:avLst/>
          </a:prstGeom>
        </p:spPr>
      </p:pic>
      <p:sp>
        <p:nvSpPr>
          <p:cNvPr id="187" name="TextBox 186"/>
          <p:cNvSpPr txBox="1"/>
          <p:nvPr/>
        </p:nvSpPr>
        <p:spPr>
          <a:xfrm>
            <a:off x="5051145" y="4489704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Pub/Sub workers</a:t>
            </a:r>
          </a:p>
        </p:txBody>
      </p:sp>
      <p:sp>
        <p:nvSpPr>
          <p:cNvPr id="188" name="Item Google Gen AI SDK"/>
          <p:cNvSpPr/>
          <p:nvPr/>
        </p:nvSpPr>
        <p:spPr>
          <a:xfrm>
            <a:off x="4502505" y="5111496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9" name="Picture 188" descr="SiGooglegemini_3C4043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39665" y="5221224"/>
            <a:ext cx="274320" cy="274320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5051145" y="5111496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Google Gen AI SDK</a:t>
            </a:r>
          </a:p>
        </p:txBody>
      </p:sp>
      <p:sp>
        <p:nvSpPr>
          <p:cNvPr id="191" name="Stack Database"/>
          <p:cNvSpPr/>
          <p:nvPr/>
        </p:nvSpPr>
        <p:spPr>
          <a:xfrm>
            <a:off x="7596835" y="2606040"/>
            <a:ext cx="309432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Badge MdStorage"/>
          <p:cNvSpPr/>
          <p:nvPr/>
        </p:nvSpPr>
        <p:spPr>
          <a:xfrm>
            <a:off x="7871155" y="2880360"/>
            <a:ext cx="713232" cy="713232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3" name="Picture 192" descr="MdStorage_FFFFF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28066" y="3037271"/>
            <a:ext cx="399409" cy="399409"/>
          </a:xfrm>
          <a:prstGeom prst="rect">
            <a:avLst/>
          </a:prstGeom>
        </p:spPr>
      </p:pic>
      <p:sp>
        <p:nvSpPr>
          <p:cNvPr id="194" name="TextBox 193"/>
          <p:cNvSpPr txBox="1"/>
          <p:nvPr/>
        </p:nvSpPr>
        <p:spPr>
          <a:xfrm>
            <a:off x="8739835" y="2880360"/>
            <a:ext cx="181416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B06000"/>
                </a:solidFill>
                <a:latin typeface="DM Sans"/>
              </a:rPr>
              <a:t>DATABASE</a:t>
            </a:r>
          </a:p>
        </p:txBody>
      </p:sp>
      <p:sp>
        <p:nvSpPr>
          <p:cNvPr id="195" name="Item Spanner Graph"/>
          <p:cNvSpPr/>
          <p:nvPr/>
        </p:nvSpPr>
        <p:spPr>
          <a:xfrm>
            <a:off x="7871155" y="3867912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6" name="Picture 195" descr="SiGooglecloudspanner_3C4043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8315" y="3977640"/>
            <a:ext cx="274320" cy="274320"/>
          </a:xfrm>
          <a:prstGeom prst="rect">
            <a:avLst/>
          </a:prstGeom>
        </p:spPr>
      </p:pic>
      <p:sp>
        <p:nvSpPr>
          <p:cNvPr id="197" name="TextBox 196"/>
          <p:cNvSpPr txBox="1"/>
          <p:nvPr/>
        </p:nvSpPr>
        <p:spPr>
          <a:xfrm>
            <a:off x="8419795" y="3867912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Spanner Graph</a:t>
            </a:r>
          </a:p>
        </p:txBody>
      </p:sp>
      <p:sp>
        <p:nvSpPr>
          <p:cNvPr id="198" name="Item Cloud SQL Postgres"/>
          <p:cNvSpPr/>
          <p:nvPr/>
        </p:nvSpPr>
        <p:spPr>
          <a:xfrm>
            <a:off x="7871155" y="4489704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9" name="Picture 198" descr="MdStorage_3C404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8315" y="4599432"/>
            <a:ext cx="274320" cy="27432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8419795" y="4489704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Cloud SQL Postgres</a:t>
            </a:r>
          </a:p>
        </p:txBody>
      </p:sp>
      <p:sp>
        <p:nvSpPr>
          <p:cNvPr id="201" name="Item Cloud Storage"/>
          <p:cNvSpPr/>
          <p:nvPr/>
        </p:nvSpPr>
        <p:spPr>
          <a:xfrm>
            <a:off x="7871155" y="5111496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2" name="Picture 201" descr="SiGooglecloudstorage_3C4043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008315" y="5221224"/>
            <a:ext cx="274320" cy="274320"/>
          </a:xfrm>
          <a:prstGeom prst="rect">
            <a:avLst/>
          </a:prstGeom>
        </p:spPr>
      </p:pic>
      <p:sp>
        <p:nvSpPr>
          <p:cNvPr id="203" name="TextBox 202"/>
          <p:cNvSpPr txBox="1"/>
          <p:nvPr/>
        </p:nvSpPr>
        <p:spPr>
          <a:xfrm>
            <a:off x="8419795" y="5111496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Cloud Storage</a:t>
            </a:r>
          </a:p>
        </p:txBody>
      </p:sp>
      <p:sp>
        <p:nvSpPr>
          <p:cNvPr id="204" name="Stack Auth &amp; API"/>
          <p:cNvSpPr/>
          <p:nvPr/>
        </p:nvSpPr>
        <p:spPr>
          <a:xfrm>
            <a:off x="10965484" y="2606040"/>
            <a:ext cx="309432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Badge MdFingerprint"/>
          <p:cNvSpPr/>
          <p:nvPr/>
        </p:nvSpPr>
        <p:spPr>
          <a:xfrm>
            <a:off x="11239804" y="2880360"/>
            <a:ext cx="713232" cy="713232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6" name="Picture 205" descr="MdFingerprint_FFFFFF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396715" y="3037271"/>
            <a:ext cx="399409" cy="399409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12108484" y="2880360"/>
            <a:ext cx="181416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188038"/>
                </a:solidFill>
                <a:latin typeface="DM Sans"/>
              </a:rPr>
              <a:t>AUTH &amp; API</a:t>
            </a:r>
          </a:p>
        </p:txBody>
      </p:sp>
      <p:sp>
        <p:nvSpPr>
          <p:cNvPr id="208" name="Item Passkeys (WebAuthn)"/>
          <p:cNvSpPr/>
          <p:nvPr/>
        </p:nvSpPr>
        <p:spPr>
          <a:xfrm>
            <a:off x="11239804" y="3867912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9" name="Picture 208" descr="SiWebauthn_3C404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376964" y="3977640"/>
            <a:ext cx="274320" cy="274320"/>
          </a:xfrm>
          <a:prstGeom prst="rect">
            <a:avLst/>
          </a:prstGeom>
        </p:spPr>
      </p:pic>
      <p:sp>
        <p:nvSpPr>
          <p:cNvPr id="210" name="TextBox 209"/>
          <p:cNvSpPr txBox="1"/>
          <p:nvPr/>
        </p:nvSpPr>
        <p:spPr>
          <a:xfrm>
            <a:off x="11788444" y="3867912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Passkeys (WebAuthn)</a:t>
            </a:r>
          </a:p>
        </p:txBody>
      </p:sp>
      <p:sp>
        <p:nvSpPr>
          <p:cNvPr id="211" name="Item Firebase Auth + FCM"/>
          <p:cNvSpPr/>
          <p:nvPr/>
        </p:nvSpPr>
        <p:spPr>
          <a:xfrm>
            <a:off x="11239804" y="4489704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2" name="Picture 211" descr="SiFirebase_3C404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376964" y="4599432"/>
            <a:ext cx="274320" cy="274320"/>
          </a:xfrm>
          <a:prstGeom prst="rect">
            <a:avLst/>
          </a:prstGeom>
        </p:spPr>
      </p:pic>
      <p:sp>
        <p:nvSpPr>
          <p:cNvPr id="213" name="TextBox 212"/>
          <p:cNvSpPr txBox="1"/>
          <p:nvPr/>
        </p:nvSpPr>
        <p:spPr>
          <a:xfrm>
            <a:off x="11788444" y="4489704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Firebase Auth + FCM</a:t>
            </a:r>
          </a:p>
        </p:txBody>
      </p:sp>
      <p:sp>
        <p:nvSpPr>
          <p:cNvPr id="214" name="Item Cloud KMS signing"/>
          <p:cNvSpPr/>
          <p:nvPr/>
        </p:nvSpPr>
        <p:spPr>
          <a:xfrm>
            <a:off x="11239804" y="5111496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5" name="Picture 214" descr="MdKey_3C4043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376964" y="5221224"/>
            <a:ext cx="274320" cy="274320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1788444" y="5111496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Cloud KMS signing</a:t>
            </a:r>
          </a:p>
        </p:txBody>
      </p:sp>
      <p:sp>
        <p:nvSpPr>
          <p:cNvPr id="217" name="Stack Deployment"/>
          <p:cNvSpPr/>
          <p:nvPr/>
        </p:nvSpPr>
        <p:spPr>
          <a:xfrm>
            <a:off x="14334134" y="2606040"/>
            <a:ext cx="3094329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Badge MdCloudUpload"/>
          <p:cNvSpPr/>
          <p:nvPr/>
        </p:nvSpPr>
        <p:spPr>
          <a:xfrm>
            <a:off x="14608454" y="2880360"/>
            <a:ext cx="713232" cy="71323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9" name="Picture 218" descr="MdCloudUpload_FFFFFF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765365" y="3037271"/>
            <a:ext cx="399409" cy="399409"/>
          </a:xfrm>
          <a:prstGeom prst="rect">
            <a:avLst/>
          </a:prstGeom>
        </p:spPr>
      </p:pic>
      <p:sp>
        <p:nvSpPr>
          <p:cNvPr id="220" name="TextBox 219"/>
          <p:cNvSpPr txBox="1"/>
          <p:nvPr/>
        </p:nvSpPr>
        <p:spPr>
          <a:xfrm>
            <a:off x="15477134" y="2880360"/>
            <a:ext cx="181416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100">
                <a:solidFill>
                  <a:srgbClr val="1A73E8"/>
                </a:solidFill>
                <a:latin typeface="DM Sans"/>
              </a:rPr>
              <a:t>DEPLOYMENT</a:t>
            </a:r>
          </a:p>
        </p:txBody>
      </p:sp>
      <p:sp>
        <p:nvSpPr>
          <p:cNvPr id="221" name="Item Cloud Run · Mumbai"/>
          <p:cNvSpPr/>
          <p:nvPr/>
        </p:nvSpPr>
        <p:spPr>
          <a:xfrm>
            <a:off x="14608454" y="3867912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2" name="Picture 221" descr="SiGooglecloud_3C4043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745614" y="3977640"/>
            <a:ext cx="274320" cy="274320"/>
          </a:xfrm>
          <a:prstGeom prst="rect">
            <a:avLst/>
          </a:prstGeom>
        </p:spPr>
      </p:pic>
      <p:sp>
        <p:nvSpPr>
          <p:cNvPr id="223" name="TextBox 222"/>
          <p:cNvSpPr txBox="1"/>
          <p:nvPr/>
        </p:nvSpPr>
        <p:spPr>
          <a:xfrm>
            <a:off x="15157094" y="3867912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Cloud Run · Mumbai</a:t>
            </a:r>
          </a:p>
        </p:txBody>
      </p:sp>
      <p:sp>
        <p:nvSpPr>
          <p:cNvPr id="224" name="Item Firebase App Hosting"/>
          <p:cNvSpPr/>
          <p:nvPr/>
        </p:nvSpPr>
        <p:spPr>
          <a:xfrm>
            <a:off x="14608454" y="4489704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5" name="Picture 224" descr="SiFirebase_3C4043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745614" y="4599432"/>
            <a:ext cx="274320" cy="274320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15157094" y="4489704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Firebase App Hosting</a:t>
            </a:r>
          </a:p>
        </p:txBody>
      </p:sp>
      <p:sp>
        <p:nvSpPr>
          <p:cNvPr id="227" name="Item Cloud Build CI/CD"/>
          <p:cNvSpPr/>
          <p:nvPr/>
        </p:nvSpPr>
        <p:spPr>
          <a:xfrm>
            <a:off x="14608454" y="5111496"/>
            <a:ext cx="2545689" cy="493776"/>
          </a:xfrm>
          <a:prstGeom prst="roundRect">
            <a:avLst>
              <a:gd name="adj" fmla="val 3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8" name="Picture 227" descr="MdBuild_3C4043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745614" y="5221224"/>
            <a:ext cx="274320" cy="274320"/>
          </a:xfrm>
          <a:prstGeom prst="rect">
            <a:avLst/>
          </a:prstGeom>
        </p:spPr>
      </p:pic>
      <p:sp>
        <p:nvSpPr>
          <p:cNvPr id="229" name="TextBox 228"/>
          <p:cNvSpPr txBox="1"/>
          <p:nvPr/>
        </p:nvSpPr>
        <p:spPr>
          <a:xfrm>
            <a:off x="15157094" y="5111496"/>
            <a:ext cx="1951329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02124"/>
                </a:solidFill>
                <a:latin typeface="DM Sans"/>
              </a:rPr>
              <a:t>Cloud Build CI/CD</a:t>
            </a:r>
          </a:p>
        </p:txBody>
      </p:sp>
      <p:sp>
        <p:nvSpPr>
          <p:cNvPr id="230" name="AI layer card"/>
          <p:cNvSpPr/>
          <p:nvPr/>
        </p:nvSpPr>
        <p:spPr>
          <a:xfrm>
            <a:off x="859536" y="6126480"/>
            <a:ext cx="8147304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Badge SiGooglegemini"/>
          <p:cNvSpPr/>
          <p:nvPr/>
        </p:nvSpPr>
        <p:spPr>
          <a:xfrm>
            <a:off x="1133856" y="6400800"/>
            <a:ext cx="713232" cy="713232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2" name="Picture 231" descr="SiGooglegemini_FFFFFF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90767" y="6557711"/>
            <a:ext cx="399409" cy="399409"/>
          </a:xfrm>
          <a:prstGeom prst="rect">
            <a:avLst/>
          </a:prstGeom>
        </p:spPr>
      </p:pic>
      <p:sp>
        <p:nvSpPr>
          <p:cNvPr id="233" name="TextBox 232"/>
          <p:cNvSpPr txBox="1"/>
          <p:nvPr/>
        </p:nvSpPr>
        <p:spPr>
          <a:xfrm>
            <a:off x="2011680" y="638251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spc="100">
                <a:solidFill>
                  <a:srgbClr val="1A73E8"/>
                </a:solidFill>
                <a:latin typeface="DM Sans"/>
              </a:rPr>
              <a:t>GOOGLE AI LAYER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011680" y="67665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F6368"/>
                </a:solidFill>
                <a:latin typeface="DM Sans"/>
              </a:rPr>
              <a:t>Gemini does the reading; </a:t>
            </a:r>
            <a:r>
              <a:rPr sz="1350" b="1" i="0">
                <a:solidFill>
                  <a:srgbClr val="202124"/>
                </a:solidFill>
                <a:latin typeface="DM Sans"/>
              </a:rPr>
              <a:t>explicit rules make the decision.</a:t>
            </a:r>
          </a:p>
        </p:txBody>
      </p:sp>
      <p:sp>
        <p:nvSpPr>
          <p:cNvPr id="235" name="Badge SiGooglegemini"/>
          <p:cNvSpPr/>
          <p:nvPr/>
        </p:nvSpPr>
        <p:spPr>
          <a:xfrm>
            <a:off x="1133856" y="7351775"/>
            <a:ext cx="420624" cy="420624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6" name="Picture 235" descr="SiGooglegemini_FFFFFF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26393" y="7444313"/>
            <a:ext cx="235549" cy="235549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1737360" y="7315200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02124"/>
                </a:solidFill>
                <a:latin typeface="DM Sans"/>
              </a:rPr>
              <a:t>Gemini on Vertex AI</a:t>
            </a:r>
            <a:r>
              <a:rPr sz="1300" b="0" i="0">
                <a:solidFill>
                  <a:srgbClr val="5F6368"/>
                </a:solidFill>
                <a:latin typeface="DM Sans"/>
              </a:rPr>
              <a:t>  structured extraction of intent, urgency, authority claims</a:t>
            </a:r>
          </a:p>
        </p:txBody>
      </p:sp>
      <p:sp>
        <p:nvSpPr>
          <p:cNvPr id="238" name="Badge MdPsychology"/>
          <p:cNvSpPr/>
          <p:nvPr/>
        </p:nvSpPr>
        <p:spPr>
          <a:xfrm>
            <a:off x="1133856" y="7918703"/>
            <a:ext cx="420624" cy="420624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9" name="Picture 238" descr="MdPsychology_FFFFFF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226393" y="8011241"/>
            <a:ext cx="235549" cy="235549"/>
          </a:xfrm>
          <a:prstGeom prst="rect">
            <a:avLst/>
          </a:prstGeom>
        </p:spPr>
      </p:pic>
      <p:sp>
        <p:nvSpPr>
          <p:cNvPr id="240" name="TextBox 239"/>
          <p:cNvSpPr txBox="1"/>
          <p:nvPr/>
        </p:nvSpPr>
        <p:spPr>
          <a:xfrm>
            <a:off x="1737360" y="7882127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02124"/>
                </a:solidFill>
                <a:latin typeface="DM Sans"/>
              </a:rPr>
              <a:t>Gemini analyst copilot</a:t>
            </a:r>
            <a:r>
              <a:rPr sz="1300" b="0" i="0">
                <a:solidFill>
                  <a:srgbClr val="5F6368"/>
                </a:solidFill>
                <a:latin typeface="DM Sans"/>
              </a:rPr>
              <a:t>  explains each hold; drafts the 1930 pack + bank recall</a:t>
            </a:r>
          </a:p>
        </p:txBody>
      </p:sp>
      <p:sp>
        <p:nvSpPr>
          <p:cNvPr id="241" name="Badge MdShield"/>
          <p:cNvSpPr/>
          <p:nvPr/>
        </p:nvSpPr>
        <p:spPr>
          <a:xfrm>
            <a:off x="1133856" y="8485632"/>
            <a:ext cx="420624" cy="420624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2" name="Picture 241" descr="MdShield_FFFFFF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226393" y="8578169"/>
            <a:ext cx="235549" cy="235549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1737360" y="8449056"/>
            <a:ext cx="71323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02124"/>
                </a:solidFill>
                <a:latin typeface="DM Sans"/>
              </a:rPr>
              <a:t>Sensitive Data Protection + Web Risk</a:t>
            </a:r>
            <a:r>
              <a:rPr sz="1300" b="0" i="0">
                <a:solidFill>
                  <a:srgbClr val="5F6368"/>
                </a:solidFill>
                <a:latin typeface="DM Sans"/>
              </a:rPr>
              <a:t>  tokenize PII; flag lookalike domains</a:t>
            </a:r>
          </a:p>
        </p:txBody>
      </p:sp>
      <p:sp>
        <p:nvSpPr>
          <p:cNvPr id="244" name="Config card"/>
          <p:cNvSpPr/>
          <p:nvPr/>
        </p:nvSpPr>
        <p:spPr>
          <a:xfrm>
            <a:off x="9281160" y="6126480"/>
            <a:ext cx="8147304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Badge MdTune"/>
          <p:cNvSpPr/>
          <p:nvPr/>
        </p:nvSpPr>
        <p:spPr>
          <a:xfrm>
            <a:off x="9555480" y="6400800"/>
            <a:ext cx="713232" cy="713232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6" name="Picture 245" descr="MdTune_FFFFFF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12391" y="6557711"/>
            <a:ext cx="399409" cy="399409"/>
          </a:xfrm>
          <a:prstGeom prst="rect">
            <a:avLst/>
          </a:prstGeom>
        </p:spPr>
      </p:pic>
      <p:sp>
        <p:nvSpPr>
          <p:cNvPr id="247" name="TextBox 246"/>
          <p:cNvSpPr txBox="1"/>
          <p:nvPr/>
        </p:nvSpPr>
        <p:spPr>
          <a:xfrm>
            <a:off x="10433304" y="6382512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spc="100">
                <a:solidFill>
                  <a:srgbClr val="188038"/>
                </a:solidFill>
                <a:latin typeface="DM Sans"/>
              </a:rPr>
              <a:t>CONFIGURABLE BY DESIGN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10433304" y="676656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124"/>
                </a:solidFill>
                <a:latin typeface="DM Sans"/>
              </a:rPr>
              <a:t>Google by default.</a:t>
            </a:r>
            <a:r>
              <a:rPr sz="1350" b="0" i="0">
                <a:solidFill>
                  <a:srgbClr val="5F6368"/>
                </a:solidFill>
                <a:latin typeface="DM Sans"/>
              </a:rPr>
              <a:t> Every layer sits behind an adapter, </a:t>
            </a:r>
            <a:r>
              <a:rPr sz="1350" b="1" i="0">
                <a:solidFill>
                  <a:srgbClr val="202124"/>
                </a:solidFill>
                <a:latin typeface="DM Sans"/>
              </a:rPr>
              <a:t>swapped in config.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9601200" y="7287768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124"/>
                </a:solidFill>
                <a:latin typeface="DM Sans"/>
              </a:rPr>
              <a:t>LLM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0744200" y="7306056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1" name="Picture 250" descr="SiGooglegemini_4285F4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872216" y="7351776"/>
            <a:ext cx="237744" cy="237744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11201400" y="7306056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73E8"/>
                </a:solidFill>
                <a:latin typeface="DM Sans"/>
              </a:rPr>
              <a:t>Gemini · Vertex AI</a:t>
            </a:r>
          </a:p>
        </p:txBody>
      </p:sp>
      <p:pic>
        <p:nvPicPr>
          <p:cNvPr id="253" name="Picture 252" descr="MdSwapHoriz_3C404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834872" y="7324344"/>
            <a:ext cx="292608" cy="292608"/>
          </a:xfrm>
          <a:prstGeom prst="rect">
            <a:avLst/>
          </a:prstGeom>
        </p:spPr>
      </p:pic>
      <p:sp>
        <p:nvSpPr>
          <p:cNvPr id="254" name="Rounded Rectangle 253"/>
          <p:cNvSpPr/>
          <p:nvPr/>
        </p:nvSpPr>
        <p:spPr>
          <a:xfrm>
            <a:off x="14237208" y="7306056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4401800" y="7306056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368"/>
                </a:solidFill>
                <a:latin typeface="DM Sans"/>
              </a:rPr>
              <a:t>Claude · local model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601200" y="7717536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124"/>
                </a:solidFill>
                <a:latin typeface="DM Sans"/>
              </a:rPr>
              <a:t>Graph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10744200" y="7735824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8" name="Picture 257" descr="SiGooglecloudspanner_4285F4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872216" y="7781544"/>
            <a:ext cx="237744" cy="237744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11201400" y="7735824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73E8"/>
                </a:solidFill>
                <a:latin typeface="DM Sans"/>
              </a:rPr>
              <a:t>Spanner Graph</a:t>
            </a:r>
          </a:p>
        </p:txBody>
      </p:sp>
      <p:pic>
        <p:nvPicPr>
          <p:cNvPr id="260" name="Picture 259" descr="MdSwapHoriz_3C404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834872" y="7754112"/>
            <a:ext cx="292608" cy="292608"/>
          </a:xfrm>
          <a:prstGeom prst="rect">
            <a:avLst/>
          </a:prstGeom>
        </p:spPr>
      </p:pic>
      <p:sp>
        <p:nvSpPr>
          <p:cNvPr id="261" name="Rounded Rectangle 260"/>
          <p:cNvSpPr/>
          <p:nvPr/>
        </p:nvSpPr>
        <p:spPr>
          <a:xfrm>
            <a:off x="14237208" y="7735824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4401800" y="7735824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368"/>
                </a:solidFill>
                <a:latin typeface="DM Sans"/>
              </a:rPr>
              <a:t>Neo4j AuraDB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9601200" y="8147304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124"/>
                </a:solidFill>
                <a:latin typeface="DM Sans"/>
              </a:rPr>
              <a:t>Evidence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10744200" y="8165592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5" name="Picture 264" descr="MdKey_4285F4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872216" y="8211312"/>
            <a:ext cx="237744" cy="237744"/>
          </a:xfrm>
          <a:prstGeom prst="rect">
            <a:avLst/>
          </a:prstGeom>
        </p:spPr>
      </p:pic>
      <p:sp>
        <p:nvSpPr>
          <p:cNvPr id="266" name="TextBox 265"/>
          <p:cNvSpPr txBox="1"/>
          <p:nvPr/>
        </p:nvSpPr>
        <p:spPr>
          <a:xfrm>
            <a:off x="11201400" y="8165592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73E8"/>
                </a:solidFill>
                <a:latin typeface="DM Sans"/>
              </a:rPr>
              <a:t>Cloud KMS + Lock</a:t>
            </a:r>
          </a:p>
        </p:txBody>
      </p:sp>
      <p:pic>
        <p:nvPicPr>
          <p:cNvPr id="267" name="Picture 266" descr="MdSwapHoriz_3C404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834872" y="8183879"/>
            <a:ext cx="292608" cy="292608"/>
          </a:xfrm>
          <a:prstGeom prst="rect">
            <a:avLst/>
          </a:prstGeom>
        </p:spPr>
      </p:pic>
      <p:sp>
        <p:nvSpPr>
          <p:cNvPr id="268" name="Rounded Rectangle 267"/>
          <p:cNvSpPr/>
          <p:nvPr/>
        </p:nvSpPr>
        <p:spPr>
          <a:xfrm>
            <a:off x="14237208" y="8165592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4401800" y="8165592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368"/>
                </a:solidFill>
                <a:latin typeface="DM Sans"/>
              </a:rPr>
              <a:t>AWS KMS + S3 Lock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9601200" y="857707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124"/>
                </a:solidFill>
                <a:latin typeface="DM Sans"/>
              </a:rPr>
              <a:t>Push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0744200" y="8595360"/>
            <a:ext cx="2971800" cy="329184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2" name="Picture 271" descr="SiFirebase_4285F4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872216" y="8641080"/>
            <a:ext cx="237744" cy="237744"/>
          </a:xfrm>
          <a:prstGeom prst="rect">
            <a:avLst/>
          </a:prstGeom>
        </p:spPr>
      </p:pic>
      <p:sp>
        <p:nvSpPr>
          <p:cNvPr id="273" name="TextBox 272"/>
          <p:cNvSpPr txBox="1"/>
          <p:nvPr/>
        </p:nvSpPr>
        <p:spPr>
          <a:xfrm>
            <a:off x="11201400" y="8595360"/>
            <a:ext cx="2468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73E8"/>
                </a:solidFill>
                <a:latin typeface="DM Sans"/>
              </a:rPr>
              <a:t>Firebase FCM</a:t>
            </a:r>
          </a:p>
        </p:txBody>
      </p:sp>
      <p:pic>
        <p:nvPicPr>
          <p:cNvPr id="274" name="Picture 273" descr="MdSwapHoriz_3C404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3834872" y="8613648"/>
            <a:ext cx="292608" cy="292608"/>
          </a:xfrm>
          <a:prstGeom prst="rect">
            <a:avLst/>
          </a:prstGeom>
        </p:spPr>
      </p:pic>
      <p:sp>
        <p:nvSpPr>
          <p:cNvPr id="275" name="Rounded Rectangle 274"/>
          <p:cNvSpPr/>
          <p:nvPr/>
        </p:nvSpPr>
        <p:spPr>
          <a:xfrm>
            <a:off x="14237208" y="8595360"/>
            <a:ext cx="2926080" cy="329184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4401800" y="8595360"/>
            <a:ext cx="2743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368"/>
                </a:solidFill>
                <a:latin typeface="DM Sans"/>
              </a:rPr>
              <a:t>Web Push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6"/>
          <p:cNvSpPr/>
          <p:nvPr/>
        </p:nvSpPr>
        <p:spPr>
          <a:xfrm>
            <a:off x="864086" y="634055"/>
            <a:ext cx="3500096" cy="229572"/>
          </a:xfrm>
          <a:custGeom>
            <a:rect b="b" l="l" r="r" t="t"/>
            <a:pathLst>
              <a:path extrusionOk="0"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6"/>
          <p:cNvSpPr txBox="1"/>
          <p:nvPr/>
        </p:nvSpPr>
        <p:spPr>
          <a:xfrm>
            <a:off x="987552" y="1301303"/>
            <a:ext cx="11022828" cy="894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81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IMPACT &amp; SCALABILITY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134488" y="9423373"/>
            <a:ext cx="229694" cy="437279"/>
          </a:xfrm>
          <a:custGeom>
            <a:rect b="b" l="l" r="r" t="t"/>
            <a:pathLst>
              <a:path extrusionOk="0"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6"/>
          <p:cNvSpPr txBox="1"/>
          <p:nvPr/>
        </p:nvSpPr>
        <p:spPr>
          <a:xfrm>
            <a:off x="987552" y="9522028"/>
            <a:ext cx="2926080" cy="214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3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ABC — Aravali Build Championship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4535424" y="9511956"/>
            <a:ext cx="1316736" cy="2253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1" u="none" cap="none" strike="noStrike">
                <a:solidFill>
                  <a:srgbClr val="8F8F8F"/>
                </a:solidFill>
                <a:latin typeface="DM Sans"/>
                <a:ea typeface="DM Sans"/>
                <a:cs typeface="DM Sans"/>
                <a:sym typeface="DM Sans"/>
              </a:rPr>
              <a:t>by GDG Udaipur</a:t>
            </a:r>
            <a:endParaRPr/>
          </a:p>
        </p:txBody>
      </p:sp>
      <p:sp>
        <p:nvSpPr>
          <p:cNvPr id="187" name="Google badge"/>
          <p:cNvSpPr/>
          <p:nvPr/>
        </p:nvSpPr>
        <p:spPr>
          <a:xfrm>
            <a:off x="14700503" y="457200"/>
            <a:ext cx="2727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CE0"/>
            </a:solidFill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" name="Picture 187" descr="SiGooglecloud_4285F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83383" y="539496"/>
            <a:ext cx="292608" cy="292608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15285719" y="457200"/>
            <a:ext cx="21427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02124"/>
                </a:solidFill>
                <a:latin typeface="DM Sans"/>
              </a:rPr>
              <a:t>Built on Google Cloud</a:t>
            </a:r>
          </a:p>
        </p:txBody>
      </p:sp>
      <p:sp>
        <p:nvSpPr>
          <p:cNvPr id="190" name="Badge MdShield"/>
          <p:cNvSpPr/>
          <p:nvPr/>
        </p:nvSpPr>
        <p:spPr>
          <a:xfrm>
            <a:off x="914400" y="2743200"/>
            <a:ext cx="868680" cy="86868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1" name="Picture 190" descr="MdShield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5509" y="2934309"/>
            <a:ext cx="486460" cy="486460"/>
          </a:xfrm>
          <a:prstGeom prst="rect">
            <a:avLst/>
          </a:prstGeom>
        </p:spPr>
      </p:pic>
      <p:sp>
        <p:nvSpPr>
          <p:cNvPr id="192" name="TextBox 191"/>
          <p:cNvSpPr txBox="1"/>
          <p:nvPr/>
        </p:nvSpPr>
        <p:spPr>
          <a:xfrm>
            <a:off x="2057400" y="27249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202124"/>
                </a:solidFill>
                <a:latin typeface="DM Sans"/>
              </a:rPr>
              <a:t>Real impact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057400" y="3218688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5F6368"/>
                </a:solidFill>
                <a:latin typeface="DM Sans"/>
              </a:rPr>
              <a:t>Stops crore-scale deepfake and BEC fraud </a:t>
            </a:r>
            <a:r>
              <a:rPr sz="1650" b="1" i="0">
                <a:solidFill>
                  <a:srgbClr val="202124"/>
                </a:solidFill>
                <a:latin typeface="DM Sans"/>
              </a:rPr>
              <a:t>before the money leaves,</a:t>
            </a:r>
            <a:r>
              <a:rPr sz="1650" b="0" i="0">
                <a:solidFill>
                  <a:srgbClr val="5F6368"/>
                </a:solidFill>
                <a:latin typeface="DM Sans"/>
              </a:rPr>
              <a:t> not days later.</a:t>
            </a:r>
          </a:p>
        </p:txBody>
      </p:sp>
      <p:sp>
        <p:nvSpPr>
          <p:cNvPr id="194" name="Badge MdGroups"/>
          <p:cNvSpPr/>
          <p:nvPr/>
        </p:nvSpPr>
        <p:spPr>
          <a:xfrm>
            <a:off x="914400" y="4846320"/>
            <a:ext cx="868680" cy="86868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5" name="Picture 194" descr="MdGroups_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5509" y="5037429"/>
            <a:ext cx="486460" cy="486460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2057400" y="48280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202124"/>
                </a:solidFill>
                <a:latin typeface="DM Sans"/>
              </a:rPr>
              <a:t>More users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057400" y="5321808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5F6368"/>
                </a:solidFill>
                <a:latin typeface="DM Sans"/>
              </a:rPr>
              <a:t>Routine payments pass untouched; </a:t>
            </a:r>
            <a:r>
              <a:rPr sz="1650" b="1" i="0">
                <a:solidFill>
                  <a:srgbClr val="202124"/>
                </a:solidFill>
                <a:latin typeface="DM Sans"/>
              </a:rPr>
              <a:t>only risky ones need one tap</a:t>
            </a:r>
            <a:r>
              <a:rPr sz="1650" b="0" i="0">
                <a:solidFill>
                  <a:srgbClr val="5F6368"/>
                </a:solidFill>
                <a:latin typeface="DM Sans"/>
              </a:rPr>
              <a:t> from the real CFO.</a:t>
            </a:r>
          </a:p>
        </p:txBody>
      </p:sp>
      <p:sp>
        <p:nvSpPr>
          <p:cNvPr id="198" name="Badge MdRocketLaunch"/>
          <p:cNvSpPr/>
          <p:nvPr/>
        </p:nvSpPr>
        <p:spPr>
          <a:xfrm>
            <a:off x="914400" y="6949440"/>
            <a:ext cx="868680" cy="86868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9" name="Picture 198" descr="MdRocketLaunch_FFFFFF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5509" y="7140549"/>
            <a:ext cx="486460" cy="48646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2057400" y="693115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202124"/>
                </a:solidFill>
                <a:latin typeface="DM Sans"/>
              </a:rPr>
              <a:t>Built to scale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2057400" y="7424927"/>
            <a:ext cx="45720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>
                <a:solidFill>
                  <a:srgbClr val="5F6368"/>
                </a:solidFill>
                <a:latin typeface="DM Sans"/>
              </a:rPr>
              <a:t>Serverless on Cloud Run: </a:t>
            </a:r>
            <a:r>
              <a:rPr sz="1650" b="1" i="0">
                <a:solidFill>
                  <a:srgbClr val="202124"/>
                </a:solidFill>
                <a:latin typeface="DM Sans"/>
              </a:rPr>
              <a:t>≤ 300 ms decisions,</a:t>
            </a:r>
            <a:r>
              <a:rPr sz="1650" b="0" i="0">
                <a:solidFill>
                  <a:srgbClr val="5F6368"/>
                </a:solidFill>
                <a:latin typeface="DM Sans"/>
              </a:rPr>
              <a:t> no LLM on the fast path.</a:t>
            </a:r>
          </a:p>
        </p:txBody>
      </p:sp>
      <p:sp>
        <p:nvSpPr>
          <p:cNvPr id="202" name="Rollout card"/>
          <p:cNvSpPr/>
          <p:nvPr/>
        </p:nvSpPr>
        <p:spPr>
          <a:xfrm>
            <a:off x="7223760" y="2606040"/>
            <a:ext cx="10204704" cy="6492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77800" dist="38100" dir="5400000" algn="t" rotWithShape="0">
              <a:srgbClr val="00000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635240" y="285292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50">
                <a:solidFill>
                  <a:srgbClr val="1A73E8"/>
                </a:solidFill>
                <a:latin typeface="DM Sans"/>
              </a:rPr>
              <a:t>ROLLOUT PATH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9646919" y="3813048"/>
            <a:ext cx="2039113" cy="0"/>
          </a:xfrm>
          <a:prstGeom prst="line">
            <a:avLst/>
          </a:prstGeom>
          <a:ln w="31750">
            <a:solidFill>
              <a:srgbClr val="DADCE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2966192" y="3813048"/>
            <a:ext cx="2039112" cy="0"/>
          </a:xfrm>
          <a:prstGeom prst="line">
            <a:avLst/>
          </a:prstGeom>
          <a:ln w="31750">
            <a:solidFill>
              <a:srgbClr val="DADCE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Badge MdLocationOn"/>
          <p:cNvSpPr/>
          <p:nvPr/>
        </p:nvSpPr>
        <p:spPr>
          <a:xfrm>
            <a:off x="8503919" y="3310128"/>
            <a:ext cx="1005840" cy="10058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7" name="Picture 206" descr="MdLocationOn_FFFFF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25204" y="3531412"/>
            <a:ext cx="563270" cy="563270"/>
          </a:xfrm>
          <a:prstGeom prst="rect">
            <a:avLst/>
          </a:prstGeom>
        </p:spPr>
      </p:pic>
      <p:sp>
        <p:nvSpPr>
          <p:cNvPr id="208" name="TextBox 207"/>
          <p:cNvSpPr txBox="1"/>
          <p:nvPr/>
        </p:nvSpPr>
        <p:spPr>
          <a:xfrm>
            <a:off x="7543800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1A73E8"/>
                </a:solidFill>
                <a:latin typeface="DM Sans"/>
              </a:rPr>
              <a:t>UDAIPUR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589519" y="498348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202124"/>
                </a:solidFill>
                <a:latin typeface="DM Sans"/>
              </a:rPr>
              <a:t>Shadow-mode pilots</a:t>
            </a:r>
            <a:r>
              <a:rPr sz="1500" b="0" i="0">
                <a:solidFill>
                  <a:srgbClr val="5F6368"/>
                </a:solidFill>
                <a:latin typeface="DM Sans"/>
              </a:rPr>
              <a:t> with local enterprise finance teams.</a:t>
            </a:r>
          </a:p>
        </p:txBody>
      </p:sp>
      <p:sp>
        <p:nvSpPr>
          <p:cNvPr id="210" name="Badge MdMap"/>
          <p:cNvSpPr/>
          <p:nvPr/>
        </p:nvSpPr>
        <p:spPr>
          <a:xfrm>
            <a:off x="11823192" y="3310128"/>
            <a:ext cx="1005840" cy="1005840"/>
          </a:xfrm>
          <a:prstGeom prst="ellipse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1" name="Picture 210" descr="MdMap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44476" y="3531412"/>
            <a:ext cx="563270" cy="563270"/>
          </a:xfrm>
          <a:prstGeom prst="rect">
            <a:avLst/>
          </a:prstGeom>
        </p:spPr>
      </p:pic>
      <p:sp>
        <p:nvSpPr>
          <p:cNvPr id="212" name="TextBox 211"/>
          <p:cNvSpPr txBox="1"/>
          <p:nvPr/>
        </p:nvSpPr>
        <p:spPr>
          <a:xfrm>
            <a:off x="10863072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C5221F"/>
                </a:solidFill>
                <a:latin typeface="DM Sans"/>
              </a:rPr>
              <a:t>RAJASTHAN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10908792" y="498348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202124"/>
                </a:solidFill>
                <a:latin typeface="DM Sans"/>
              </a:rPr>
              <a:t>MSME exporters, cooperative banks</a:t>
            </a:r>
            <a:r>
              <a:rPr sz="1500" b="0" i="0">
                <a:solidFill>
                  <a:srgbClr val="5F6368"/>
                </a:solidFill>
                <a:latin typeface="DM Sans"/>
              </a:rPr>
              <a:t> and state enterprises.</a:t>
            </a:r>
          </a:p>
        </p:txBody>
      </p:sp>
      <p:sp>
        <p:nvSpPr>
          <p:cNvPr id="214" name="Badge MdPublic"/>
          <p:cNvSpPr/>
          <p:nvPr/>
        </p:nvSpPr>
        <p:spPr>
          <a:xfrm>
            <a:off x="15142463" y="3310128"/>
            <a:ext cx="1005840" cy="10058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5" name="Picture 214" descr="MdPublic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63748" y="3531412"/>
            <a:ext cx="563270" cy="563270"/>
          </a:xfrm>
          <a:prstGeom prst="rect">
            <a:avLst/>
          </a:prstGeom>
        </p:spPr>
      </p:pic>
      <p:sp>
        <p:nvSpPr>
          <p:cNvPr id="216" name="TextBox 215"/>
          <p:cNvSpPr txBox="1"/>
          <p:nvPr/>
        </p:nvSpPr>
        <p:spPr>
          <a:xfrm>
            <a:off x="14182344" y="44805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188038"/>
                </a:solidFill>
                <a:latin typeface="DM Sans"/>
              </a:rPr>
              <a:t>INDIA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4228063" y="498348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 i="0">
                <a:solidFill>
                  <a:srgbClr val="202124"/>
                </a:solidFill>
                <a:latin typeface="DM Sans"/>
              </a:rPr>
              <a:t>Every NEFT / RTGS / IMPS release,</a:t>
            </a:r>
            <a:r>
              <a:rPr sz="1500" b="0" i="0">
                <a:solidFill>
                  <a:srgbClr val="5F6368"/>
                </a:solidFill>
                <a:latin typeface="DM Sans"/>
              </a:rPr>
              <a:t> wired to 1930 reporting.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635240" y="635508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50">
                <a:solidFill>
                  <a:srgbClr val="1A73E8"/>
                </a:solidFill>
                <a:latin typeface="DM Sans"/>
              </a:rPr>
              <a:t>PILOT PLAN</a:t>
            </a:r>
          </a:p>
        </p:txBody>
      </p:sp>
      <p:sp>
        <p:nvSpPr>
          <p:cNvPr id="219" name="Plan 60-day shadow mode"/>
          <p:cNvSpPr/>
          <p:nvPr/>
        </p:nvSpPr>
        <p:spPr>
          <a:xfrm>
            <a:off x="7635240" y="6784848"/>
            <a:ext cx="3017520" cy="1874519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Badge MdVisibility"/>
          <p:cNvSpPr/>
          <p:nvPr/>
        </p:nvSpPr>
        <p:spPr>
          <a:xfrm>
            <a:off x="7863840" y="6995160"/>
            <a:ext cx="548640" cy="548640"/>
          </a:xfrm>
          <a:prstGeom prst="ellipse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1" name="Picture 220" descr="MdVisibility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4540" y="7115860"/>
            <a:ext cx="307238" cy="307238"/>
          </a:xfrm>
          <a:prstGeom prst="rect">
            <a:avLst/>
          </a:prstGeom>
        </p:spPr>
      </p:pic>
      <p:sp>
        <p:nvSpPr>
          <p:cNvPr id="222" name="TextBox 221"/>
          <p:cNvSpPr txBox="1"/>
          <p:nvPr/>
        </p:nvSpPr>
        <p:spPr>
          <a:xfrm>
            <a:off x="8549640" y="6995160"/>
            <a:ext cx="2011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02124"/>
                </a:solidFill>
                <a:latin typeface="DM Sans"/>
              </a:rPr>
              <a:t>60-day shadow mode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863840" y="7726679"/>
            <a:ext cx="2606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202124"/>
                </a:solidFill>
                <a:latin typeface="DM Sans"/>
              </a:rPr>
              <a:t>Runs on the customer's own data; </a:t>
            </a:r>
            <a:r>
              <a:rPr sz="1350" b="1" i="0">
                <a:solidFill>
                  <a:srgbClr val="202124"/>
                </a:solidFill>
                <a:latin typeface="DM Sans"/>
              </a:rPr>
              <a:t>never blocks a payment.</a:t>
            </a:r>
          </a:p>
        </p:txBody>
      </p:sp>
      <p:pic>
        <p:nvPicPr>
          <p:cNvPr id="224" name="Picture 223" descr="MdChevronRight_3C404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34472" y="7580375"/>
            <a:ext cx="292608" cy="292608"/>
          </a:xfrm>
          <a:prstGeom prst="rect">
            <a:avLst/>
          </a:prstGeom>
        </p:spPr>
      </p:pic>
      <p:sp>
        <p:nvSpPr>
          <p:cNvPr id="225" name="Plan Calibrate"/>
          <p:cNvSpPr/>
          <p:nvPr/>
        </p:nvSpPr>
        <p:spPr>
          <a:xfrm>
            <a:off x="10908792" y="6784848"/>
            <a:ext cx="3017520" cy="1874519"/>
          </a:xfrm>
          <a:prstGeom prst="roundRect">
            <a:avLst>
              <a:gd name="adj" fmla="val 8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Badge MdTune"/>
          <p:cNvSpPr/>
          <p:nvPr/>
        </p:nvSpPr>
        <p:spPr>
          <a:xfrm>
            <a:off x="11137392" y="6995160"/>
            <a:ext cx="548640" cy="548640"/>
          </a:xfrm>
          <a:prstGeom prst="ellipse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7" name="Picture 226" descr="MdTune_FFFFFF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258092" y="7115860"/>
            <a:ext cx="307238" cy="307238"/>
          </a:xfrm>
          <a:prstGeom prst="rect">
            <a:avLst/>
          </a:prstGeom>
        </p:spPr>
      </p:pic>
      <p:sp>
        <p:nvSpPr>
          <p:cNvPr id="228" name="TextBox 227"/>
          <p:cNvSpPr txBox="1"/>
          <p:nvPr/>
        </p:nvSpPr>
        <p:spPr>
          <a:xfrm>
            <a:off x="11823192" y="6995160"/>
            <a:ext cx="2011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02124"/>
                </a:solidFill>
                <a:latin typeface="DM Sans"/>
              </a:rPr>
              <a:t>Calibrate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1137392" y="7726679"/>
            <a:ext cx="2606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202124"/>
                </a:solidFill>
                <a:latin typeface="DM Sans"/>
              </a:rPr>
              <a:t>Tune weights and thresholds </a:t>
            </a:r>
            <a:r>
              <a:rPr sz="1350" b="1" i="0">
                <a:solidFill>
                  <a:srgbClr val="202124"/>
                </a:solidFill>
                <a:latin typeface="DM Sans"/>
              </a:rPr>
              <a:t>per customer, from real outcomes.</a:t>
            </a:r>
          </a:p>
        </p:txBody>
      </p:sp>
      <p:pic>
        <p:nvPicPr>
          <p:cNvPr id="230" name="Picture 229" descr="MdChevronRight_3C404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908024" y="7580375"/>
            <a:ext cx="292608" cy="292608"/>
          </a:xfrm>
          <a:prstGeom prst="rect">
            <a:avLst/>
          </a:prstGeom>
        </p:spPr>
      </p:pic>
      <p:sp>
        <p:nvSpPr>
          <p:cNvPr id="231" name="Plan Go live"/>
          <p:cNvSpPr/>
          <p:nvPr/>
        </p:nvSpPr>
        <p:spPr>
          <a:xfrm>
            <a:off x="14182344" y="6784848"/>
            <a:ext cx="3017520" cy="1874519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Badge MdTaskAlt"/>
          <p:cNvSpPr/>
          <p:nvPr/>
        </p:nvSpPr>
        <p:spPr>
          <a:xfrm>
            <a:off x="14410944" y="6995160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3" name="Picture 232" descr="MdTaskAlt_FFFFF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531644" y="7115860"/>
            <a:ext cx="307238" cy="307238"/>
          </a:xfrm>
          <a:prstGeom prst="rect">
            <a:avLst/>
          </a:prstGeom>
        </p:spPr>
      </p:pic>
      <p:sp>
        <p:nvSpPr>
          <p:cNvPr id="234" name="TextBox 233"/>
          <p:cNvSpPr txBox="1"/>
          <p:nvPr/>
        </p:nvSpPr>
        <p:spPr>
          <a:xfrm>
            <a:off x="15096743" y="6995160"/>
            <a:ext cx="20116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202124"/>
                </a:solidFill>
                <a:latin typeface="DM Sans"/>
              </a:rPr>
              <a:t>Go live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410944" y="7726679"/>
            <a:ext cx="2606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 i="0">
                <a:solidFill>
                  <a:srgbClr val="202124"/>
                </a:solidFill>
                <a:latin typeface="DM Sans"/>
              </a:rPr>
              <a:t>Gate the payment-release step</a:t>
            </a:r>
            <a:r>
              <a:rPr sz="1350" b="0" i="0">
                <a:solidFill>
                  <a:srgbClr val="202124"/>
                </a:solidFill>
                <a:latin typeface="DM Sans"/>
              </a:rPr>
              <a:t> through an ERP API hook.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